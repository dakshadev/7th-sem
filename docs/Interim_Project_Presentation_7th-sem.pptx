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20"/>
  </p:notesMasterIdLst>
  <p:sldIdLst>
    <p:sldId id="276" r:id="rId5"/>
    <p:sldId id="258" r:id="rId6"/>
    <p:sldId id="260" r:id="rId7"/>
    <p:sldId id="273" r:id="rId8"/>
    <p:sldId id="277" r:id="rId9"/>
    <p:sldId id="283" r:id="rId10"/>
    <p:sldId id="261" r:id="rId11"/>
    <p:sldId id="282" r:id="rId12"/>
    <p:sldId id="262" r:id="rId13"/>
    <p:sldId id="281" r:id="rId14"/>
    <p:sldId id="284" r:id="rId15"/>
    <p:sldId id="280" r:id="rId16"/>
    <p:sldId id="272" r:id="rId17"/>
    <p:sldId id="275" r:id="rId18"/>
    <p:sldId id="267" r:id="rId19"/>
  </p:sldIdLst>
  <p:sldSz cx="9906000" cy="6858000" type="A4"/>
  <p:notesSz cx="6761163" cy="99425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2">
          <p15:clr>
            <a:srgbClr val="A4A3A4"/>
          </p15:clr>
        </p15:guide>
        <p15:guide id="2" pos="2130">
          <p15:clr>
            <a:srgbClr val="A4A3A4"/>
          </p15:clr>
        </p15:guide>
      </p15:notes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1" roundtripDataSignature="AMtx7miuxkUHzEEBQb45tIBOtUrgvatI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B3D1C26-BEBA-40EB-B880-04AE644533D2}">
  <a:tblStyle styleId="{9B3D1C26-BEBA-40EB-B880-04AE644533D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tcBdr/>
        <a:fill>
          <a:solidFill>
            <a:srgbClr val="CFD7E7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FD7E7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9F6D2E3C-A018-442B-BF50-C8C78C53ADB0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446" y="72"/>
      </p:cViewPr>
      <p:guideLst>
        <p:guide orient="horz" pos="216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132"/>
        <p:guide pos="213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1" Type="http://customschemas.google.com/relationships/presentationmetadata" Target="metadata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29837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29761" y="0"/>
            <a:ext cx="2929837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8975" y="746125"/>
            <a:ext cx="5383213" cy="3727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6117" y="4722694"/>
            <a:ext cx="540893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43662"/>
            <a:ext cx="2929837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29761" y="9443662"/>
            <a:ext cx="2929837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76117" y="4722694"/>
            <a:ext cx="540893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746125"/>
            <a:ext cx="5383213" cy="3727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76117" y="4722694"/>
            <a:ext cx="540893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" name="Google Shape;1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746125"/>
            <a:ext cx="5383213" cy="3727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76117" y="4722694"/>
            <a:ext cx="540893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" name="Google Shape;1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746125"/>
            <a:ext cx="5383213" cy="3727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616336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>
            <a:spLocks noGrp="1"/>
          </p:cNvSpPr>
          <p:nvPr>
            <p:ph type="body" idx="1"/>
          </p:nvPr>
        </p:nvSpPr>
        <p:spPr>
          <a:xfrm>
            <a:off x="676117" y="4722694"/>
            <a:ext cx="540893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3" name="Google Shape;1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746125"/>
            <a:ext cx="5383213" cy="3727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1:notes"/>
          <p:cNvSpPr txBox="1">
            <a:spLocks noGrp="1"/>
          </p:cNvSpPr>
          <p:nvPr>
            <p:ph type="body" idx="1"/>
          </p:nvPr>
        </p:nvSpPr>
        <p:spPr>
          <a:xfrm>
            <a:off x="676117" y="4722694"/>
            <a:ext cx="540893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9" name="Google Shape;12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746125"/>
            <a:ext cx="5383213" cy="3727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5:notes"/>
          <p:cNvSpPr txBox="1">
            <a:spLocks noGrp="1"/>
          </p:cNvSpPr>
          <p:nvPr>
            <p:ph type="body" idx="1"/>
          </p:nvPr>
        </p:nvSpPr>
        <p:spPr>
          <a:xfrm>
            <a:off x="676117" y="4722694"/>
            <a:ext cx="540893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2" name="Google Shape;16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746125"/>
            <a:ext cx="5383213" cy="3727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7"/>
          <p:cNvSpPr txBox="1"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17"/>
          <p:cNvSpPr txBox="1"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dt" idx="10"/>
          </p:nvPr>
        </p:nvSpPr>
        <p:spPr>
          <a:xfrm>
            <a:off x="519336" y="6308727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ft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sldNum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28" name="Google Shape;28;p18"/>
          <p:cNvSpPr/>
          <p:nvPr/>
        </p:nvSpPr>
        <p:spPr>
          <a:xfrm>
            <a:off x="200472" y="6721476"/>
            <a:ext cx="294828" cy="91900"/>
          </a:xfrm>
          <a:prstGeom prst="rect">
            <a:avLst/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" name="Google Shape;29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2480" y="6705906"/>
            <a:ext cx="2416616" cy="1520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9"/>
          <p:cNvSpPr txBox="1"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dt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ft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sldNum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0"/>
          <p:cNvSpPr txBox="1"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dt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ft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sldNum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1"/>
          <p:cNvSpPr txBox="1"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1"/>
          </p:nvPr>
        </p:nvSpPr>
        <p:spPr>
          <a:xfrm>
            <a:off x="495300" y="1600201"/>
            <a:ext cx="437515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body" idx="2"/>
          </p:nvPr>
        </p:nvSpPr>
        <p:spPr>
          <a:xfrm>
            <a:off x="5035550" y="1600201"/>
            <a:ext cx="437515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dt" idx="10"/>
          </p:nvPr>
        </p:nvSpPr>
        <p:spPr>
          <a:xfrm>
            <a:off x="1280592" y="6356351"/>
            <a:ext cx="26575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ft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sldNum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2"/>
          <p:cNvSpPr txBox="1"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body" idx="2"/>
          </p:nvPr>
        </p:nvSpPr>
        <p:spPr>
          <a:xfrm>
            <a:off x="495300" y="2174875"/>
            <a:ext cx="4376870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body" idx="3"/>
          </p:nvPr>
        </p:nvSpPr>
        <p:spPr>
          <a:xfrm>
            <a:off x="5032111" y="1535113"/>
            <a:ext cx="437859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body" idx="4"/>
          </p:nvPr>
        </p:nvSpPr>
        <p:spPr>
          <a:xfrm>
            <a:off x="5032111" y="2174875"/>
            <a:ext cx="4378590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dt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ft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sldNum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3"/>
          <p:cNvSpPr/>
          <p:nvPr/>
        </p:nvSpPr>
        <p:spPr>
          <a:xfrm>
            <a:off x="0" y="0"/>
            <a:ext cx="9906000" cy="152400"/>
          </a:xfrm>
          <a:prstGeom prst="rect">
            <a:avLst/>
          </a:prstGeom>
          <a:solidFill>
            <a:srgbClr val="00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3"/>
          <p:cNvSpPr/>
          <p:nvPr/>
        </p:nvSpPr>
        <p:spPr>
          <a:xfrm>
            <a:off x="0" y="6705600"/>
            <a:ext cx="9906000" cy="152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3"/>
          <p:cNvSpPr txBox="1"/>
          <p:nvPr/>
        </p:nvSpPr>
        <p:spPr>
          <a:xfrm>
            <a:off x="0" y="6654842"/>
            <a:ext cx="2747868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©M. S. Ramaiah University of Applied Sciences</a:t>
            </a:r>
            <a:endParaRPr sz="10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3"/>
          <p:cNvSpPr/>
          <p:nvPr/>
        </p:nvSpPr>
        <p:spPr>
          <a:xfrm>
            <a:off x="9525000" y="6324600"/>
            <a:ext cx="381000" cy="533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3"/>
          <p:cNvSpPr/>
          <p:nvPr/>
        </p:nvSpPr>
        <p:spPr>
          <a:xfrm>
            <a:off x="9505750" y="6324600"/>
            <a:ext cx="4571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t>‹#›</a:t>
            </a:fld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4"/>
          <p:cNvSpPr txBox="1"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body" idx="1"/>
          </p:nvPr>
        </p:nvSpPr>
        <p:spPr>
          <a:xfrm>
            <a:off x="3872971" y="273051"/>
            <a:ext cx="5537729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body" idx="2"/>
          </p:nvPr>
        </p:nvSpPr>
        <p:spPr>
          <a:xfrm>
            <a:off x="495300" y="1435101"/>
            <a:ext cx="3259006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dt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24"/>
          <p:cNvSpPr txBox="1">
            <a:spLocks noGrp="1"/>
          </p:cNvSpPr>
          <p:nvPr>
            <p:ph type="ft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24"/>
          <p:cNvSpPr txBox="1">
            <a:spLocks noGrp="1"/>
          </p:cNvSpPr>
          <p:nvPr>
            <p:ph type="sldNum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5"/>
          <p:cNvSpPr txBox="1"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" name="Google Shape;72;p25"/>
          <p:cNvSpPr>
            <a:spLocks noGrp="1"/>
          </p:cNvSpPr>
          <p:nvPr>
            <p:ph type="pic" idx="2"/>
          </p:nvPr>
        </p:nvSpPr>
        <p:spPr>
          <a:xfrm>
            <a:off x="1941645" y="612775"/>
            <a:ext cx="59436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25"/>
          <p:cNvSpPr txBox="1">
            <a:spLocks noGrp="1"/>
          </p:cNvSpPr>
          <p:nvPr>
            <p:ph type="body" idx="1"/>
          </p:nvPr>
        </p:nvSpPr>
        <p:spPr>
          <a:xfrm>
            <a:off x="1941645" y="5367338"/>
            <a:ext cx="59436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dt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25"/>
          <p:cNvSpPr txBox="1">
            <a:spLocks noGrp="1"/>
          </p:cNvSpPr>
          <p:nvPr>
            <p:ph type="ft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sldNum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6"/>
          <p:cNvSpPr txBox="1"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body" idx="1"/>
          </p:nvPr>
        </p:nvSpPr>
        <p:spPr>
          <a:xfrm rot="5400000">
            <a:off x="2690018" y="-594518"/>
            <a:ext cx="4525963" cy="89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dt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26"/>
          <p:cNvSpPr txBox="1">
            <a:spLocks noGrp="1"/>
          </p:cNvSpPr>
          <p:nvPr>
            <p:ph type="ft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26"/>
          <p:cNvSpPr txBox="1">
            <a:spLocks noGrp="1"/>
          </p:cNvSpPr>
          <p:nvPr>
            <p:ph type="sldNum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7"/>
          <p:cNvSpPr txBox="1">
            <a:spLocks noGrp="1"/>
          </p:cNvSpPr>
          <p:nvPr>
            <p:ph type="title"/>
          </p:nvPr>
        </p:nvSpPr>
        <p:spPr>
          <a:xfrm rot="5400000">
            <a:off x="5370512" y="2085976"/>
            <a:ext cx="5851525" cy="2228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" name="Google Shape;85;p27"/>
          <p:cNvSpPr txBox="1">
            <a:spLocks noGrp="1"/>
          </p:cNvSpPr>
          <p:nvPr>
            <p:ph type="body" idx="1"/>
          </p:nvPr>
        </p:nvSpPr>
        <p:spPr>
          <a:xfrm rot="5400000">
            <a:off x="830262" y="-60323"/>
            <a:ext cx="5851525" cy="652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dt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27"/>
          <p:cNvSpPr txBox="1">
            <a:spLocks noGrp="1"/>
          </p:cNvSpPr>
          <p:nvPr>
            <p:ph type="ft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27"/>
          <p:cNvSpPr txBox="1">
            <a:spLocks noGrp="1"/>
          </p:cNvSpPr>
          <p:nvPr>
            <p:ph type="sldNum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/>
          <p:nvPr/>
        </p:nvSpPr>
        <p:spPr>
          <a:xfrm>
            <a:off x="0" y="0"/>
            <a:ext cx="9906000" cy="152400"/>
          </a:xfrm>
          <a:prstGeom prst="rect">
            <a:avLst/>
          </a:prstGeom>
          <a:solidFill>
            <a:srgbClr val="00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6"/>
          <p:cNvSpPr/>
          <p:nvPr/>
        </p:nvSpPr>
        <p:spPr>
          <a:xfrm>
            <a:off x="0" y="6705600"/>
            <a:ext cx="9906000" cy="152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16"/>
          <p:cNvSpPr txBox="1"/>
          <p:nvPr/>
        </p:nvSpPr>
        <p:spPr>
          <a:xfrm>
            <a:off x="6633" y="6654842"/>
            <a:ext cx="2747868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©M. S. Ramaiah University of Applied Sciences</a:t>
            </a:r>
            <a:endParaRPr sz="10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6"/>
          <p:cNvSpPr/>
          <p:nvPr/>
        </p:nvSpPr>
        <p:spPr>
          <a:xfrm>
            <a:off x="9525000" y="6324600"/>
            <a:ext cx="381000" cy="533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6"/>
          <p:cNvSpPr/>
          <p:nvPr/>
        </p:nvSpPr>
        <p:spPr>
          <a:xfrm>
            <a:off x="9505750" y="6324600"/>
            <a:ext cx="4571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t>‹#›</a:t>
            </a:fld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15;p16" descr="C:\Users\Paramesh\Desktop\Logo\Logo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28464" y="6337321"/>
            <a:ext cx="262890" cy="3429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sdgs.un.org/goals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 noGrp="1"/>
          </p:cNvSpPr>
          <p:nvPr>
            <p:ph type="subTitle" idx="1"/>
          </p:nvPr>
        </p:nvSpPr>
        <p:spPr>
          <a:xfrm>
            <a:off x="409816" y="4491396"/>
            <a:ext cx="4617720" cy="16557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ookman Old Style" pitchFamily="18" charset="0"/>
                <a:ea typeface="+mn-ea"/>
                <a:cs typeface="+mn-cs"/>
              </a:rPr>
              <a:t>Team Details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ookman Old Style" pitchFamily="18" charset="0"/>
                <a:ea typeface="+mn-ea"/>
                <a:cs typeface="+mn-cs"/>
              </a:rPr>
              <a:t>R Daksha Subramanya: ____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ookman Old Style" pitchFamily="18" charset="0"/>
                <a:ea typeface="+mn-ea"/>
                <a:cs typeface="+mn-cs"/>
              </a:rPr>
              <a:t>Sudeep S S Suvarna: ____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ookman Old Style" pitchFamily="18" charset="0"/>
                <a:ea typeface="+mn-ea"/>
                <a:cs typeface="+mn-cs"/>
              </a:rPr>
              <a:t>Akash U S: ____</a:t>
            </a:r>
          </a:p>
        </p:txBody>
      </p:sp>
      <p:sp>
        <p:nvSpPr>
          <p:cNvPr id="5" name="Title 4"/>
          <p:cNvSpPr txBox="1">
            <a:spLocks noGrp="1"/>
          </p:cNvSpPr>
          <p:nvPr>
            <p:ph type="ctrTitle"/>
          </p:nvPr>
        </p:nvSpPr>
        <p:spPr>
          <a:xfrm>
            <a:off x="914400" y="1742502"/>
            <a:ext cx="8403771" cy="830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Faculty of Engineering and Technology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Department of Computer Science and Engineering</a:t>
            </a:r>
          </a:p>
        </p:txBody>
      </p:sp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5137119" y="4491396"/>
            <a:ext cx="4610394" cy="1508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Tx/>
            </a:pPr>
            <a:r>
              <a:rPr lang="en-US" sz="2000" b="1" kern="1200" dirty="0">
                <a:solidFill>
                  <a:schemeClr val="tx1"/>
                </a:solidFill>
                <a:latin typeface="Bookman Old Style" pitchFamily="18" charset="0"/>
                <a:ea typeface="+mn-ea"/>
                <a:cs typeface="+mn-cs"/>
              </a:rPr>
              <a:t>Mentor</a:t>
            </a:r>
          </a:p>
          <a:p>
            <a:pPr>
              <a:spcBef>
                <a:spcPct val="20000"/>
              </a:spcBef>
              <a:buClrTx/>
            </a:pPr>
            <a:r>
              <a:rPr lang="en-US" sz="1700" b="1" kern="1200" dirty="0">
                <a:solidFill>
                  <a:schemeClr val="tx1"/>
                </a:solidFill>
                <a:latin typeface="Bookman Old Style" pitchFamily="18" charset="0"/>
                <a:ea typeface="+mn-ea"/>
                <a:cs typeface="+mn-cs"/>
              </a:rPr>
              <a:t>Dr. Prabadevi B</a:t>
            </a:r>
          </a:p>
          <a:p>
            <a:pPr>
              <a:spcBef>
                <a:spcPct val="20000"/>
              </a:spcBef>
              <a:buClrTx/>
            </a:pPr>
            <a:r>
              <a:rPr lang="en-US" sz="1500" b="1" kern="1200" dirty="0">
                <a:solidFill>
                  <a:schemeClr val="tx1"/>
                </a:solidFill>
                <a:latin typeface="Bookman Old Style" pitchFamily="18" charset="0"/>
                <a:ea typeface="+mn-ea"/>
                <a:cs typeface="+mn-cs"/>
              </a:rPr>
              <a:t>Associate Professor</a:t>
            </a:r>
          </a:p>
          <a:p>
            <a:pPr>
              <a:spcBef>
                <a:spcPct val="20000"/>
              </a:spcBef>
              <a:buClrTx/>
            </a:pPr>
            <a:r>
              <a:rPr lang="en-US" sz="1500" b="1" kern="1200" dirty="0">
                <a:solidFill>
                  <a:schemeClr val="tx1"/>
                </a:solidFill>
                <a:latin typeface="Bookman Old Style" pitchFamily="18" charset="0"/>
                <a:ea typeface="+mn-ea"/>
                <a:cs typeface="+mn-cs"/>
              </a:rPr>
              <a:t>Dept. of CSE, MSRUAS, Bengaluru</a:t>
            </a:r>
          </a:p>
        </p:txBody>
      </p:sp>
      <p:sp>
        <p:nvSpPr>
          <p:cNvPr id="7" name="Google Shape;93;p1"/>
          <p:cNvSpPr txBox="1">
            <a:spLocks/>
          </p:cNvSpPr>
          <p:nvPr/>
        </p:nvSpPr>
        <p:spPr>
          <a:xfrm>
            <a:off x="1553521" y="2889504"/>
            <a:ext cx="7406640" cy="14813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lvl1pPr algn="ctr" defTabSz="74295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FF0000"/>
              </a:buClr>
              <a:buSzPts val="3200"/>
              <a:buFontTx/>
            </a:pPr>
            <a:r>
              <a:rPr lang="en-US" sz="2400" b="1" dirty="0"/>
              <a:t>Interim-Project Presentation</a:t>
            </a:r>
            <a:br>
              <a:rPr lang="en-US" sz="2400" b="1" dirty="0"/>
            </a:br>
            <a:r>
              <a:rPr lang="en-US" sz="1700" b="1" dirty="0">
                <a:solidFill>
                  <a:srgbClr val="FF0000"/>
                </a:solidFill>
              </a:rPr>
              <a:t>A Lightweight Self-Supervised Framework for Text Representation Learning Using Masked Latent Prediction</a:t>
            </a:r>
            <a:br/>
            <a:r>
              <a:rPr lang="en-US" sz="1700" b="1" dirty="0">
                <a:solidFill>
                  <a:srgbClr val="FF0000"/>
                </a:solidFill>
              </a:rPr>
              <a:t>Batch PB93</a:t>
            </a: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1422369" y="3700621"/>
            <a:ext cx="7429500" cy="4914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ClrTx/>
              <a:defRPr/>
            </a:pPr>
            <a:r>
              <a:rPr lang="en-US" sz="2000" b="1" dirty="0">
                <a:solidFill>
                  <a:schemeClr val="bg1"/>
                </a:solidFill>
                <a:latin typeface="Bookman Old Style" pitchFamily="18" charset="0"/>
              </a:rPr>
              <a:t/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D9AE390-1EBF-06F6-7AA0-D50F7D61E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6380" y="406143"/>
            <a:ext cx="3310210" cy="1155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724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 txBox="1">
            <a:spLocks noGrp="1"/>
          </p:cNvSpPr>
          <p:nvPr>
            <p:ph type="title"/>
          </p:nvPr>
        </p:nvSpPr>
        <p:spPr>
          <a:xfrm>
            <a:off x="495300" y="226554"/>
            <a:ext cx="8915400" cy="634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Calibri"/>
              <a:buNone/>
            </a:pPr>
            <a:r>
              <a:rPr lang="en-US" sz="3200" b="1">
                <a:solidFill>
                  <a:srgbClr val="FF0000"/>
                </a:solidFill>
              </a:rPr>
              <a:t>Outline</a:t>
            </a:r>
            <a:endParaRPr/>
          </a:p>
        </p:txBody>
      </p:sp>
      <p:sp>
        <p:nvSpPr>
          <p:cNvPr id="107" name="Google Shape;107;p3"/>
          <p:cNvSpPr txBox="1">
            <a:spLocks noGrp="1"/>
          </p:cNvSpPr>
          <p:nvPr>
            <p:ph type="body" idx="1"/>
          </p:nvPr>
        </p:nvSpPr>
        <p:spPr>
          <a:xfrm>
            <a:off x="495300" y="666964"/>
            <a:ext cx="8915400" cy="5447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indent="-457200">
              <a:spcBef>
                <a:spcPts val="0"/>
              </a:spcBef>
              <a:spcAft>
                <a:spcPts val="600"/>
              </a:spcAft>
              <a:buSzPts val="2800"/>
            </a:pPr>
            <a:r>
              <a:rPr lang="en-US" sz="1800" dirty="0"/>
              <a:t>Introduction and approved problem statement</a:t>
            </a:r>
          </a:p>
          <a:p>
            <a:pPr lvl="0" indent="-457200">
              <a:spcBef>
                <a:spcPts val="0"/>
              </a:spcBef>
              <a:spcAft>
                <a:spcPts val="600"/>
              </a:spcAft>
              <a:buSzPts val="2800"/>
            </a:pPr>
            <a:r>
              <a:rPr lang="en-US" sz="1800" dirty="0"/>
              <a:t>Literature survey and identified research gap</a:t>
            </a:r>
          </a:p>
          <a:p>
            <a:pPr lvl="0" indent="-457200">
              <a:spcBef>
                <a:spcPts val="0"/>
              </a:spcBef>
              <a:spcAft>
                <a:spcPts val="600"/>
              </a:spcAft>
              <a:buSzPts val="2800"/>
            </a:pPr>
            <a:r>
              <a:rPr lang="en-US" sz="1800" dirty="0"/>
              <a:t>Approved objectives and objective-wise progress</a:t>
            </a:r>
          </a:p>
          <a:p>
            <a:pPr lvl="0" indent="-457200">
              <a:spcBef>
                <a:spcPts val="0"/>
              </a:spcBef>
              <a:spcAft>
                <a:spcPts val="600"/>
              </a:spcAft>
              <a:buSzPts val="2800"/>
            </a:pPr>
            <a:r>
              <a:rPr lang="en-US" sz="1800" dirty="0"/>
              <a:t>Methodology and system architecture</a:t>
            </a:r>
          </a:p>
          <a:p>
            <a:pPr lvl="0" indent="-457200">
              <a:spcBef>
                <a:spcPts val="0"/>
              </a:spcBef>
              <a:spcAft>
                <a:spcPts val="600"/>
              </a:spcAft>
              <a:buSzPts val="2800"/>
            </a:pPr>
            <a:r>
              <a:rPr lang="en-US" sz="1800" dirty="0"/>
              <a:t>Dataset and computing requirements</a:t>
            </a:r>
          </a:p>
          <a:p>
            <a:pPr lvl="0" indent="-457200">
              <a:spcBef>
                <a:spcPts val="0"/>
              </a:spcBef>
              <a:spcAft>
                <a:spcPts val="600"/>
              </a:spcAft>
              <a:buSzPts val="2800"/>
            </a:pPr>
            <a:r>
              <a:rPr lang="en-US" sz="1800" dirty="0"/>
              <a:t>HPC / GPU resource usage</a:t>
            </a:r>
          </a:p>
          <a:p>
            <a:pPr lvl="0" indent="-457200">
              <a:spcBef>
                <a:spcPts val="0"/>
              </a:spcBef>
              <a:spcAft>
                <a:spcPts val="600"/>
              </a:spcAft>
              <a:buSzPts val="2800"/>
            </a:pPr>
            <a:r>
              <a:rPr lang="en-US" sz="1800" dirty="0"/>
              <a:t>Implementation evidence and preliminary results</a:t>
            </a:r>
          </a:p>
          <a:p>
            <a:pPr lvl="0" indent="-457200">
              <a:spcBef>
                <a:spcPts val="0"/>
              </a:spcBef>
              <a:spcAft>
                <a:spcPts val="600"/>
              </a:spcAft>
              <a:buSzPts val="2800"/>
            </a:pPr>
            <a:r>
              <a:rPr lang="en-US" sz="1800" dirty="0"/>
              <a:t>Live demonstration</a:t>
            </a:r>
          </a:p>
          <a:p>
            <a:pPr lvl="0" indent="-457200">
              <a:spcBef>
                <a:spcPts val="0"/>
              </a:spcBef>
              <a:spcAft>
                <a:spcPts val="600"/>
              </a:spcAft>
              <a:buSzPts val="2800"/>
            </a:pPr>
            <a:r>
              <a:rPr lang="en-US" sz="1800" dirty="0"/>
              <a:t>Remaining work, timeline and risks</a:t>
            </a:r>
          </a:p>
          <a:p>
            <a:pPr lvl="0" indent="-457200">
              <a:spcBef>
                <a:spcPts val="0"/>
              </a:spcBef>
              <a:spcAft>
                <a:spcPts val="600"/>
              </a:spcAft>
              <a:buSzPts val="2800"/>
            </a:pPr>
            <a:r>
              <a:rPr lang="en-US" sz="1800" dirty="0"/>
              <a:t>SDG alignment and conclusion</a:t>
            </a:r>
          </a:p>
          <a:p>
            <a:pPr lvl="0" indent="-457200">
              <a:spcBef>
                <a:spcPts val="0"/>
              </a:spcBef>
              <a:spcAft>
                <a:spcPts val="600"/>
              </a:spcAft>
              <a:buSzPts val="2800"/>
            </a:pPr>
            <a:r>
              <a:rPr lang="en-US" sz="1800" dirty="0"/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>
            <a:spLocks noGrp="1"/>
          </p:cNvSpPr>
          <p:nvPr>
            <p:ph type="title"/>
          </p:nvPr>
        </p:nvSpPr>
        <p:spPr>
          <a:xfrm>
            <a:off x="495300" y="274637"/>
            <a:ext cx="8915400" cy="6083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rgbClr val="FF0000"/>
              </a:buClr>
              <a:buSzPts val="3200"/>
            </a:pPr>
            <a:r>
              <a:rPr lang="en-US" sz="3200" b="1" dirty="0">
                <a:solidFill>
                  <a:srgbClr val="FF0000"/>
                </a:solidFill>
              </a:rPr>
              <a:t>Introduction and approved problem statement</a:t>
            </a:r>
            <a:endParaRPr sz="3200" b="1" dirty="0">
              <a:solidFill>
                <a:srgbClr val="FF0000"/>
              </a:solidFill>
            </a:endParaRPr>
          </a:p>
        </p:txBody>
      </p:sp>
      <p:sp>
        <p:nvSpPr>
          <p:cNvPr id="120" name="Google Shape;120;p5"/>
          <p:cNvSpPr txBox="1">
            <a:spLocks noGrp="1"/>
          </p:cNvSpPr>
          <p:nvPr>
            <p:ph type="body" idx="1"/>
          </p:nvPr>
        </p:nvSpPr>
        <p:spPr>
          <a:xfrm>
            <a:off x="495300" y="1087550"/>
            <a:ext cx="8915400" cy="484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200"/>
              <a:buNone/>
            </a:pPr>
            <a:r>
              <a:rPr sz="1700"/>
              <a:t>A small encoder on one free GPU cannot imitate BERT-scale pretraining; what it is trained to predict decides what its representation is worth.</a:t>
            </a:r>
            <a:endParaRPr sz="2200" dirty="0"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200"/>
              <a:buNone/>
            </a:pPr>
            <a:r>
              <a:rPr sz="1700"/>
              <a:t>MLM predicts token identity, so the target is lexical — and our own measurement shows 30% of masked positions have five or more plausible fillers.</a:t>
            </a:r>
            <a:endParaRPr sz="2200" dirty="0"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200"/>
              <a:buNone/>
            </a:pPr>
            <a:r>
              <a:rPr sz="1700"/>
              <a:t>Approved problem: predict a masked latent from a frozen EMA teacher instead, and measure whether representation quality improves without collapse.</a:t>
            </a:r>
            <a:endParaRPr sz="2200" dirty="0"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200"/>
              <a:buNone/>
            </a:pPr>
            <a:r>
              <a:rPr sz="1700"/>
              <a:t>Scope: one shared 4-layer encoder, identical data and token budget across conditions, free GPU only.</a:t>
            </a:r>
            <a:endParaRPr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Literature survey and identified research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1417320"/>
            <a:ext cx="8915400" cy="48463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600"/>
              <a:t>BERT (Devlin et al., 2019) — masked-token prediction: strong transfer, but the target is defined over the vocabulary, never over meaning.</a:t>
            </a:r>
          </a:p>
          <a:p>
            <a:pPr>
              <a:spcAft>
                <a:spcPts val="800"/>
              </a:spcAft>
            </a:pPr>
            <a:r>
              <a:rPr sz="1600"/>
              <a:t>MAE (He et al., 2022), BEiT — latent targets beat raw-input targets in vision, because the prediction happens in representation space.</a:t>
            </a:r>
          </a:p>
          <a:p>
            <a:pPr>
              <a:spcAft>
                <a:spcPts val="800"/>
              </a:spcAft>
            </a:pPr>
            <a:r>
              <a:rPr sz="1600"/>
              <a:t>BYOL, SimSiam, VICReg, DINO — self-distillation from an EMA teacher, plus an explicit guard against collapse.</a:t>
            </a:r>
          </a:p>
          <a:p>
            <a:pPr>
              <a:spcAft>
                <a:spcPts val="800"/>
              </a:spcAft>
            </a:pPr>
            <a:r>
              <a:rPr sz="1600"/>
              <a:t>Gap: latent-target self-supervision is well characterised for vision, thinly characterised for small text encoders at student-scale budgets.</a:t>
            </a:r>
          </a:p>
          <a:p>
            <a:pPr>
              <a:spcAft>
                <a:spcPts val="800"/>
              </a:spcAft>
            </a:pPr>
            <a:r>
              <a:rPr sz="1600"/>
              <a:t>This work measures the trade-off directly: one encoder, conditions A/B/C, collapse by effective rank, transfer by a frozen linear probe.</a:t>
            </a:r>
          </a:p>
        </p:txBody>
      </p:sp>
    </p:spTree>
    <p:extLst>
      <p:ext uri="{BB962C8B-B14F-4D97-AF65-F5344CB8AC3E}">
        <p14:creationId xmlns:p14="http://schemas.microsoft.com/office/powerpoint/2010/main" val="161039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>
            <a:spLocks noGrp="1"/>
          </p:cNvSpPr>
          <p:nvPr>
            <p:ph type="title"/>
          </p:nvPr>
        </p:nvSpPr>
        <p:spPr>
          <a:xfrm>
            <a:off x="495300" y="274637"/>
            <a:ext cx="8915400" cy="6083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rgbClr val="FF0000"/>
              </a:buClr>
              <a:buSzPts val="3200"/>
            </a:pPr>
            <a:r>
              <a:rPr lang="en-US" sz="3200" b="1" dirty="0">
                <a:solidFill>
                  <a:srgbClr val="FF0000"/>
                </a:solidFill>
              </a:rPr>
              <a:t>Approved Objectives and Objective-wise Progress:</a:t>
            </a:r>
            <a:endParaRPr sz="3200" b="1" dirty="0">
              <a:solidFill>
                <a:srgbClr val="FF0000"/>
              </a:solidFill>
            </a:endParaRPr>
          </a:p>
        </p:txBody>
      </p:sp>
      <p:sp>
        <p:nvSpPr>
          <p:cNvPr id="120" name="Google Shape;120;p5"/>
          <p:cNvSpPr txBox="1">
            <a:spLocks noGrp="1"/>
          </p:cNvSpPr>
          <p:nvPr>
            <p:ph type="body" idx="1"/>
          </p:nvPr>
        </p:nvSpPr>
        <p:spPr>
          <a:xfrm>
            <a:off x="495300" y="1087550"/>
            <a:ext cx="8915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1500" dirty="0"/>
              <a:t>Status against the approved proposal; every row is backed by a file in the repository.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8549655"/>
              </p:ext>
            </p:extLst>
          </p:nvPr>
        </p:nvGraphicFramePr>
        <p:xfrm>
          <a:off x="681038" y="2331720"/>
          <a:ext cx="8543924" cy="3566160"/>
        </p:xfrm>
        <a:graphic>
          <a:graphicData uri="http://schemas.openxmlformats.org/drawingml/2006/table">
            <a:tbl>
              <a:tblPr>
                <a:tableStyleId>{9F6D2E3C-A018-442B-BF50-C8C78C53ADB0}</a:tableStyleId>
              </a:tblPr>
              <a:tblGrid>
                <a:gridCol w="2135981">
                  <a:extLst>
                    <a:ext uri="{9D8B030D-6E8A-4147-A177-3AD203B41FA5}">
                      <a16:colId xmlns:a16="http://schemas.microsoft.com/office/drawing/2014/main" val="1047120985"/>
                    </a:ext>
                  </a:extLst>
                </a:gridCol>
                <a:gridCol w="2135981">
                  <a:extLst>
                    <a:ext uri="{9D8B030D-6E8A-4147-A177-3AD203B41FA5}">
                      <a16:colId xmlns:a16="http://schemas.microsoft.com/office/drawing/2014/main" val="4171791807"/>
                    </a:ext>
                  </a:extLst>
                </a:gridCol>
                <a:gridCol w="2135981">
                  <a:extLst>
                    <a:ext uri="{9D8B030D-6E8A-4147-A177-3AD203B41FA5}">
                      <a16:colId xmlns:a16="http://schemas.microsoft.com/office/drawing/2014/main" val="4002978733"/>
                    </a:ext>
                  </a:extLst>
                </a:gridCol>
                <a:gridCol w="2135981">
                  <a:extLst>
                    <a:ext uri="{9D8B030D-6E8A-4147-A177-3AD203B41FA5}">
                      <a16:colId xmlns:a16="http://schemas.microsoft.com/office/drawing/2014/main" val="36422871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</a:rPr>
                        <a:t>Approved objective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</a:rPr>
                        <a:t>Work completed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</a:rPr>
                        <a:t>Evidence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</a:rPr>
                        <a:t>Status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5999676"/>
                  </a:ext>
                </a:extLst>
              </a:tr>
              <a:tr h="0">
                <a:tc>
                  <a:txBody>
                    <a:bodyPr wrap="square"/>
                    <a:lstStyle/>
                    <a:p>
                      <a:r>
                        <a:rPr lang="en-US" sz="1000"/>
                        <a:t>Objective 1: Survey representation-learning methods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lang="en-US" sz="1000"/>
                        <a:t>Compared MLM with latent-target self-supervision; fixed the comparison protocol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lang="en-IN" sz="1000"/>
                        <a:t>docs/EXPERIMENT_PROTOCOL.md; literature table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lang="en-IN" sz="1000"/>
                        <a:t>Completed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9613572"/>
                  </a:ext>
                </a:extLst>
              </a:tr>
              <a:tr h="0">
                <a:tc>
                  <a:txBody>
                    <a:bodyPr wrap="square"/>
                    <a:lstStyle/>
                    <a:p>
                      <a:r>
                        <a:rPr lang="en-US" sz="1000"/>
                        <a:t>Objective 2: Dataset and masking pipeline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lang="en-US" sz="1000"/>
                        <a:t>WikiText-2/103 loaders, independent + span masking, corpus statistics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lang="en-US" sz="1000"/>
                        <a:t>src/data.py; tests/test_data.py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lang="en-IN" sz="1000"/>
                        <a:t>Completed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131364"/>
                  </a:ext>
                </a:extLst>
              </a:tr>
              <a:tr h="0">
                <a:tc>
                  <a:txBody>
                    <a:bodyPr wrap="square"/>
                    <a:lstStyle/>
                    <a:p>
                      <a:r>
                        <a:rPr lang="en-US" sz="1000"/>
                        <a:t>Objective 3: Shared encoder and latent objectives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lang="en-US" sz="1000"/>
                        <a:t>4-layer encoder, MLM control, latent recipes A/B, EMA teacher, checkpoints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lang="en-US" sz="1000"/>
                        <a:t>src/model.py, objectives.py, train.py; 55 tests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lang="en-IN" sz="1000"/>
                        <a:t>Completed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014395"/>
                  </a:ext>
                </a:extLst>
              </a:tr>
              <a:tr h="0">
                <a:tc>
                  <a:txBody>
                    <a:bodyPr wrap="square"/>
                    <a:lstStyle/>
                    <a:p>
                      <a:r>
                        <a:rPr lang="en-US" sz="1000"/>
                        <a:t>Objective 4: Collapse vs transfer characterisation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lang="en-US" sz="1000"/>
                        <a:t>Geometry, frozen probe and ambiguity analysis run; full-budget sweep in progress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lang="en-IN" sz="1000"/>
                        <a:t>results/person1/*.json; PERSON1_LONG_PILOT.md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lang="en-IN" dirty="0" sz="1000"/>
                        <a:t>Partial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61745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4160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rgbClr val="FF0000"/>
                </a:solidFill>
              </a:rPr>
              <a:t>Methodology and system architecture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188720"/>
            <a:ext cx="8915400" cy="1371600"/>
          </a:xfrm>
        </p:spPr>
        <p:txBody>
          <a:bodyPr wrap="square"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dirty="0" sz="1450"/>
              <a:t>C — MLM: cross-entropy over the vocabulary.</a:t>
            </a:r>
            <a:endParaRPr lang="en-IN" dirty="0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dirty="0" sz="1450"/>
              <a:t>A — final-layer target, attention predictor, MSE, span masks.</a:t>
            </a:r>
            <a:endParaRPr lang="en-IN" dirty="0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dirty="0" sz="1450"/>
              <a:t>B — mean of top-2 normalised layers, linear predictor, Smooth L1, independent masks.</a:t>
            </a:r>
            <a:endParaRPr lang="en-IN" dirty="0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dirty="0" sz="1450"/>
              <a:t>Teacher — frozen EMA copy (decay 0.996), targets detached.</a:t>
            </a:r>
            <a:endParaRPr lang="en-IN" dirty="0"/>
          </a:p>
        </p:txBody>
      </p:sp>
      <p:pic>
        <p:nvPicPr>
          <p:cNvPr id="4" name="Picture 3" descr="fig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670048"/>
            <a:ext cx="9006840" cy="3359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404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>
            <a:spLocks noGrp="1"/>
          </p:cNvSpPr>
          <p:nvPr>
            <p:ph type="title"/>
          </p:nvPr>
        </p:nvSpPr>
        <p:spPr>
          <a:xfrm>
            <a:off x="495300" y="274638"/>
            <a:ext cx="891540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rgbClr val="FF0000"/>
              </a:buClr>
              <a:buSzPts val="3200"/>
            </a:pPr>
            <a:r>
              <a:rPr lang="en-US" sz="3200" b="1" dirty="0">
                <a:solidFill>
                  <a:srgbClr val="FF0000"/>
                </a:solidFill>
              </a:rPr>
              <a:t>Dataset and computing requirements</a:t>
            </a:r>
          </a:p>
        </p:txBody>
      </p:sp>
      <p:sp>
        <p:nvSpPr>
          <p:cNvPr id="126" name="Google Shape;126;p6"/>
          <p:cNvSpPr txBox="1">
            <a:spLocks noGrp="1"/>
          </p:cNvSpPr>
          <p:nvPr>
            <p:ph type="body" idx="1"/>
          </p:nvPr>
        </p:nvSpPr>
        <p:spPr>
          <a:xfrm>
            <a:off x="495300" y="2521257"/>
            <a:ext cx="8915400" cy="420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spcBef>
                <a:spcPts val="0"/>
              </a:spcBef>
              <a:spcAft>
                <a:spcPts val="600"/>
              </a:spcAft>
            </a:pPr>
            <a:r>
              <a:rPr lang="en-US" sz="1550" b="1" dirty="0"/>
              <a:t>Data: WikiText-2 and WikiText-103 raw (Salesforce); AG News for the frozen probe.</a:t>
            </a:r>
          </a:p>
          <a:p>
            <a:pPr algn="just">
              <a:spcBef>
                <a:spcPts val="0"/>
              </a:spcBef>
              <a:spcAft>
                <a:spcPts val="600"/>
              </a:spcAft>
            </a:pPr>
            <a:r>
              <a:rPr lang="en-US" sz="1550" b="1" dirty="0"/>
              <a:t>Tokenisation: bert-base-uncased as a tokenizer only — no pretrained weights in the model.</a:t>
            </a:r>
          </a:p>
          <a:p>
            <a:pPr algn="just">
              <a:spcBef>
                <a:spcPts val="0"/>
              </a:spcBef>
              <a:spcAft>
                <a:spcPts val="600"/>
              </a:spcAft>
            </a:pPr>
            <a:r>
              <a:rPr lang="en-US" sz="1550" b="1" dirty="0"/>
              <a:t>Preprocessing: length 128, 15% of positions masked, independent and span policies, special tokens excluded from prediction.</a:t>
            </a:r>
          </a:p>
          <a:p>
            <a:pPr algn="just">
              <a:spcBef>
                <a:spcPts val="0"/>
              </a:spcBef>
              <a:spcAft>
                <a:spcPts val="600"/>
              </a:spcAft>
            </a:pPr>
            <a:r>
              <a:rPr lang="en-US" sz="1550" b="1" dirty="0"/>
              <a:t>Scale reached: 700,482 non-padding tokens per run — 14% of the proposed 5M-token budget.</a:t>
            </a:r>
          </a:p>
          <a:p>
            <a:pPr algn="just">
              <a:spcBef>
                <a:spcPts val="0"/>
              </a:spcBef>
              <a:spcAft>
                <a:spcPts val="600"/>
              </a:spcAft>
            </a:pPr>
            <a:r>
              <a:rPr lang="en-US" sz="1550" b="1" dirty="0"/>
              <a:t>Compute: free Kaggle T4 (15 GB, torch 2.11 + cu128); ~7 min per six-run batch; local machine CPU-only. Colab's free tier refused a backend from our location.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595374"/>
          </a:xfrm>
        </p:spPr>
        <p:txBody>
          <a:bodyPr/>
          <a:lstStyle/>
          <a:p>
            <a:pPr>
              <a:buClr>
                <a:srgbClr val="FF0000"/>
              </a:buClr>
              <a:buSzPts val="3200"/>
            </a:pPr>
            <a:r>
              <a:rPr lang="en-US" sz="3200" b="1" dirty="0">
                <a:solidFill>
                  <a:srgbClr val="FF0000"/>
                </a:solidFill>
              </a:rPr>
              <a:t>HPC lab requirement details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480560"/>
          </a:xfrm>
        </p:spPr>
        <p:txBody>
          <a:bodyPr wrap="square"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dirty="0" sz="1700"/>
              <a:t>No HPC cluster used: all GPU work ran on a free Kaggle T4 inside a 30 GPU-hour weekly quota.</a:t>
            </a:r>
            <a:endParaRPr lang="en-IN" dirty="0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dirty="0" sz="1700"/>
              <a:t>Measured need: a 700k-token run takes ~45 s, so the full 5M-token sweep (3 conditions x 2 seeds + 4 ablations + probes) is about 6 GPU-hours.</a:t>
            </a:r>
            <a:endParaRPr lang="en-IN" dirty="0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dirty="0" sz="1700"/>
              <a:t>Minimum viable hardware: one CUDA GPU with ≥ 8 GB, PyTorch 2.x; no interconnects or special storage — the pipeline is single-GPU and fully checkpointed.</a:t>
            </a:r>
            <a:endParaRPr lang="en-IN" dirty="0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dirty="0" sz="1700"/>
              <a:t>Lab access would remove the two real constraints: the weekly quota and session resets.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6161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"/>
          <p:cNvSpPr txBox="1">
            <a:spLocks noGrp="1"/>
          </p:cNvSpPr>
          <p:nvPr>
            <p:ph type="title"/>
          </p:nvPr>
        </p:nvSpPr>
        <p:spPr>
          <a:xfrm>
            <a:off x="495300" y="274638"/>
            <a:ext cx="8915400" cy="7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rgbClr val="FF0000"/>
              </a:buClr>
              <a:buSzPts val="3200"/>
            </a:pPr>
            <a:r>
              <a:rPr lang="en-US" sz="3200" b="1" dirty="0">
                <a:solidFill>
                  <a:srgbClr val="FF0000"/>
                </a:solidFill>
              </a:rPr>
              <a:t>Implementation evidence and preliminary results</a:t>
            </a:r>
          </a:p>
        </p:txBody>
      </p:sp>
      <p:sp>
        <p:nvSpPr>
          <p:cNvPr id="132" name="Google Shape;132;p11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48920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540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450"/>
              <a:t>55 tests pass (2 skipped: CUDA-only resume, integration-only); ruff clean; resume reproduces state exactly.</a:t>
            </a:r>
            <a:endParaRPr lang="en-US" sz="2400" dirty="0">
              <a:solidFill>
                <a:srgbClr val="00B050"/>
              </a:solidFill>
            </a:endParaRPr>
          </a:p>
          <a:p>
            <a:pPr marL="2540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450"/>
              <a:t>Training is stable: seed-to-seed spread under 3% (A 0.505 vs 0.519; B 0.150 vs 0.154).</a:t>
            </a:r>
            <a:endParaRPr lang="en-US" sz="2400" dirty="0">
              <a:solidFill>
                <a:srgbClr val="00B050"/>
              </a:solidFill>
            </a:endParaRPr>
          </a:p>
          <a:p>
            <a:pPr marL="2540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450"/>
              <a:t>No collapse: effective rank 76.4 / 80.8 for latent A versus 10.2 / 17.0 for MLM.</a:t>
            </a:r>
            <a:endParaRPr lang="en-US" sz="2400" dirty="0">
              <a:solidFill>
                <a:srgbClr val="00B050"/>
              </a:solidFill>
            </a:endParaRPr>
          </a:p>
          <a:p>
            <a:pPr marL="2540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450"/>
              <a:t>Transfer did not improve: every trained student is below a random-initialised encoder (0.575–0.593 vs 0.632).</a:t>
            </a:r>
            <a:endParaRPr lang="en-US" sz="2400" dirty="0">
              <a:solidFill>
                <a:srgbClr val="00B050"/>
              </a:solidFill>
            </a:endParaRPr>
          </a:p>
          <a:p>
            <a:pPr marL="2540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450"/>
              <a:t>At 0.7M tokens the constraint is budget, not recipe — which the running 5M-token sweep tests.</a:t>
            </a:r>
            <a:endParaRPr lang="en-US" sz="2400" dirty="0">
              <a:solidFill>
                <a:srgbClr val="00B050"/>
              </a:solidFill>
            </a:endParaRPr>
          </a:p>
        </p:txBody>
      </p:sp>
      <p:pic>
        <p:nvPicPr>
          <p:cNvPr id="133" name="Picture 132" descr="fig_pr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417320"/>
            <a:ext cx="4160520" cy="256902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FF0000"/>
                </a:solidFill>
              </a:rPr>
              <a:t>Demonstration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480560"/>
          </a:xfrm>
        </p:spPr>
        <p:txBody>
          <a:bodyPr wrap="square"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700"/>
              <a:t>Build batches from WikiText-103 and train one run end-to-end, printing live loss.</a:t>
            </a:r>
            <a:endParaRPr lang="en-IN" dirty="0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700"/>
              <a:t>Show metrics.jsonl, checkpoint.pt and metadata.json — commit hash and token count included.</a:t>
            </a:r>
            <a:endParaRPr lang="en-IN" dirty="0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700"/>
              <a:t>Interrupt and resume the same run: counters and loss continue exactly.</a:t>
            </a:r>
            <a:endParaRPr lang="en-IN" dirty="0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700"/>
              <a:t>Run the frozen AG News probe and the geometry report on the new student.</a:t>
            </a:r>
            <a:endParaRPr lang="en-IN" dirty="0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700"/>
              <a:t>Rebuild this deck's figures from results/*.json — no number is typed by hand.</a:t>
            </a:r>
            <a:endParaRPr lang="en-IN" dirty="0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700"/>
              <a:t>Repository: github.com/dakshadev/7th-sem (main); all commands in README.md.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7995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FF0000"/>
                </a:solidFill>
              </a:rPr>
              <a:t>Remaining work, timeline and risks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480560"/>
          </a:xfrm>
        </p:spPr>
        <p:txBody>
          <a:bodyPr wrap="square"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dirty="0" sz="1550"/>
              <a:t>This week: finish the 5M-token sweep (0.7M → 5M, C/A/B, two seeds) and report whether transfer overtakes the random-initialised reference.</a:t>
            </a:r>
            <a:endParaRPr lang="en-IN" dirty="0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dirty="0" sz="1550"/>
              <a:t>Next: rerun ablations D–G at full budget with probes and a second seed — currently loss-only, single-seed.</a:t>
            </a:r>
            <a:endParaRPr lang="en-IN" dirty="0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dirty="0" sz="1550"/>
              <a:t>Then: SIGReg-style collapse regulariser (recipe H) and a second probe task (SST-2), so one easy task cannot carry the conclusion.</a:t>
            </a:r>
            <a:endParaRPr lang="en-IN" dirty="0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dirty="0" sz="1550"/>
              <a:t>Risks: free-tier quota and session resets (mitigated by committed kernels and hashed artifacts); and the chance that no condition beats the random baseline — reported as the finding if so.</a:t>
            </a:r>
            <a:endParaRPr lang="en-IN" dirty="0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dirty="0" sz="1550"/>
              <a:t>Before final evaluation: full report, final deck, viva preparation.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39022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CBD22-65BF-D221-25B6-89C2F6DBE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FF0000"/>
                </a:solidFill>
              </a:rPr>
              <a:t>Sustainable Development Goals(SDG) Aligned to your project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85556F-1CF8-4F94-3318-9FF8024386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480560"/>
          </a:xfrm>
        </p:spPr>
        <p:txBody>
          <a:bodyPr wrap="square"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dirty="0" sz="1700"/>
              <a:t>SDG 4 — Quality Education: lowers the compute cost of usable text representations, so small institutions can train their own models.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dirty="0" sz="1700"/>
              <a:t>SDG 9 — Industry, Innovation and Infrastructure: a tested, reproducible NLP pipeline that runs on free or consumer hardware.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dirty="0" sz="1700"/>
              <a:t>SDG 10 — Reduced Inequalities: language technology should not be gated behind budgets only well-funded labs can meet.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dirty="0" sz="1700"/>
              <a:t>Secondary — SDG 12: smaller models mean less energy per experiment.</a:t>
            </a:r>
          </a:p>
        </p:txBody>
      </p:sp>
    </p:spTree>
    <p:extLst>
      <p:ext uri="{BB962C8B-B14F-4D97-AF65-F5344CB8AC3E}">
        <p14:creationId xmlns:p14="http://schemas.microsoft.com/office/powerpoint/2010/main" val="12576018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92BCA-3471-1607-1425-AE22332D5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Conclusion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95300" y="1325790"/>
            <a:ext cx="8915400" cy="4480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1700" dirty="0">
                <a:solidFill>
                  <a:schemeClr val="tx1"/>
                </a:solidFill>
              </a:rPr>
              <a:t>A complete, tested system exists: one shared encoder, three matched conditions, one evaluation harness, 55 passing tests.</a:t>
            </a:r>
            <a:endParaRPr lang="en-US" sz="2000" b="1" dirty="0">
              <a:solidFill>
                <a:srgbClr val="00B050"/>
              </a:solidFill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1700" dirty="0">
                <a:solidFill>
                  <a:schemeClr val="tx1"/>
                </a:solidFill>
              </a:rPr>
              <a:t>Preliminary (0.7M-token) evidence: optimisation is stable, nothing collapses, and transfer does not yet beat an untrained encoder — a budget effect, reported as such.</a:t>
            </a:r>
            <a:endParaRPr lang="en-US" sz="2000" b="1" dirty="0">
              <a:solidFill>
                <a:srgbClr val="00B050"/>
              </a:solidFill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1700" dirty="0">
                <a:solidFill>
                  <a:schemeClr val="tx1"/>
                </a:solidFill>
              </a:rPr>
              <a:t>The 5M-token sweep decides whether masked-latent targets help at the scale the proposal promised. Either outcome is informative.</a:t>
            </a:r>
            <a:endParaRPr lang="en-US" sz="20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9316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References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495300" y="1600201"/>
            <a:ext cx="8915400" cy="4754880"/>
          </a:xfrm>
        </p:spPr>
        <p:txBody>
          <a:bodyPr wrap="square"/>
          <a:lstStyle/>
          <a:p>
            <a:pPr marL="25400" indent="0" algn="just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350" dirty="0"/>
              <a:t>[1] Devlin, J., Chang, M.-W., Lee, K., &amp; Toutanova, K. (2019). BERT: Pre-training of Deep Bidirectional Transformers for Language Understanding. NAACL-HLT, 4171–4186.</a:t>
            </a:r>
          </a:p>
          <a:p>
            <a:pPr marL="25400" indent="0" algn="just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350" dirty="0"/>
              <a:t>[2] He, K., Chen, X., Xie, S., Li, Y., Dollár, P., &amp; Girshick, R. (2022). Masked Autoencoders Are Scalable Vision Learners. CVPR, 16000–16009.</a:t>
            </a:r>
          </a:p>
          <a:p>
            <a:pPr marL="25400" indent="0" algn="just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350" dirty="0"/>
              <a:t>[3] Grill, J.-B., et al. (2020). Bootstrap Your Own Latent. NeurIPS, 21271–21284.</a:t>
            </a:r>
          </a:p>
          <a:p>
            <a:pPr marL="25400" indent="0" algn="just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350" dirty="0"/>
              <a:t>[4] Bardes, A., Ponce, J., &amp; LeCun, Y. (2022). VICReg: Variance-Invariance-Covariance Regularization for Self-Supervised Learning. ICLR.</a:t>
            </a:r>
          </a:p>
          <a:p>
            <a:pPr marL="25400" indent="0" algn="just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350" dirty="0"/>
              <a:t>[5] Merity, S., Xiong, C., Bradbury, J., &amp; Socher, R. (2017). Pointer Sentinel Mixture Models (WikiText). ICLR.</a:t>
            </a:r>
          </a:p>
          <a:p>
            <a:pPr marL="25400" indent="0" algn="just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350" dirty="0"/>
              <a:t>[6] Zhang, X., Zhao, J., &amp; LeCun, Y. (2015). Character-level Convolutional Networks for Text Classification (AG News). NeurIPS, 649–657.</a:t>
            </a:r>
          </a:p>
        </p:txBody>
      </p:sp>
    </p:spTree>
    <p:extLst>
      <p:ext uri="{BB962C8B-B14F-4D97-AF65-F5344CB8AC3E}">
        <p14:creationId xmlns:p14="http://schemas.microsoft.com/office/powerpoint/2010/main" val="1857017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5"/>
          <p:cNvSpPr txBox="1">
            <a:spLocks noGrp="1"/>
          </p:cNvSpPr>
          <p:nvPr>
            <p:ph type="ctrTitle"/>
          </p:nvPr>
        </p:nvSpPr>
        <p:spPr>
          <a:xfrm>
            <a:off x="742950" y="2644775"/>
            <a:ext cx="84201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 sz="40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4000"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5" name="Google Shape;165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0472" y="6714622"/>
            <a:ext cx="2416616" cy="1520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A9E8ECE037BF649AABE2B97172FF83F" ma:contentTypeVersion="10" ma:contentTypeDescription="Create a new document." ma:contentTypeScope="" ma:versionID="6bd57edd640cb86bd195be371f70456c">
  <xsd:schema xmlns:xsd="http://www.w3.org/2001/XMLSchema" xmlns:xs="http://www.w3.org/2001/XMLSchema" xmlns:p="http://schemas.microsoft.com/office/2006/metadata/properties" xmlns:ns3="88ff0a13-d8fc-4450-af5b-e0f5e4cdc635" targetNamespace="http://schemas.microsoft.com/office/2006/metadata/properties" ma:root="true" ma:fieldsID="4934de0ae093a6014efa4977af3878d8" ns3:_="">
    <xsd:import namespace="88ff0a13-d8fc-4450-af5b-e0f5e4cdc635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ff0a13-d8fc-4450-af5b-e0f5e4cdc635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8ff0a13-d8fc-4450-af5b-e0f5e4cdc635" xsi:nil="true"/>
  </documentManagement>
</p:properties>
</file>

<file path=customXml/itemProps1.xml><?xml version="1.0" encoding="utf-8"?>
<ds:datastoreItem xmlns:ds="http://schemas.openxmlformats.org/officeDocument/2006/customXml" ds:itemID="{211C78BF-C914-4A92-929B-E5909FE9CC3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8ff0a13-d8fc-4450-af5b-e0f5e4cdc6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CF2A00D-C49D-4D9C-9EE7-E130F918E18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25B3CB-2473-4607-B178-EC71D1D853DC}">
  <ds:schemaRefs>
    <ds:schemaRef ds:uri="http://purl.org/dc/elements/1.1/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88ff0a13-d8fc-4450-af5b-e0f5e4cdc635"/>
    <ds:schemaRef ds:uri="http://schemas.microsoft.com/office/2006/metadata/properties"/>
    <ds:schemaRef ds:uri="http://schemas.openxmlformats.org/package/2006/metadata/core-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583</TotalTime>
  <Words>630</Words>
  <Application>Microsoft Office PowerPoint</Application>
  <PresentationFormat>A4 Paper (210x297 mm)</PresentationFormat>
  <Paragraphs>76</Paragraphs>
  <Slides>15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Faculty of Engineering and Technology Department of Computer Science and Engineering</vt:lpstr>
      <vt:lpstr>Outline</vt:lpstr>
      <vt:lpstr>Introduction and approved problem statement</vt:lpstr>
      <vt:lpstr>Literature survey and identified research gap</vt:lpstr>
      <vt:lpstr>Approved Objectives and Objective-wise Progress:</vt:lpstr>
      <vt:lpstr>Methodology and system architecture</vt:lpstr>
      <vt:lpstr>Dataset and computing requirements, where applicable. (Include this slide, if required) </vt:lpstr>
      <vt:lpstr>HPC lab requirement details</vt:lpstr>
      <vt:lpstr>Implementation evidence and preliminary results</vt:lpstr>
      <vt:lpstr>Demonstration</vt:lpstr>
      <vt:lpstr>Remaining work, timeline and risks</vt:lpstr>
      <vt:lpstr>Sustainable Development Goals(SDG) Aligned to your project</vt:lpstr>
      <vt:lpstr>Conclusion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Pre-Project Presentation Precision Brain Tumor Detection and Smart Report Generation Using Deep Learning Programme: B. Tech in CSE</dc:title>
  <dc:creator>Nethra</dc:creator>
  <cp:lastModifiedBy>Dr. Jagadamba G</cp:lastModifiedBy>
  <cp:revision>52</cp:revision>
  <dcterms:created xsi:type="dcterms:W3CDTF">2014-10-09T06:35:03Z</dcterms:created>
  <dcterms:modified xsi:type="dcterms:W3CDTF">2026-10-27T11:27:50Z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0x0101008A9E8ECE037BF649AABE2B97172FF83F</vt:lpwstr>
  </property>
</Properties>
</file>