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the honest position up front: the experimental system is built and runs on a free GPU; what we lack is training budget, not infrastructure.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Lead with what exists and runs. Then immediately bound the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re-litigate the survey; restate the question and move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Emphasise one encoder, one runner, config-selected variants: that is what makes the comparison fair.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asked why A vs B cannot answer the question: because they differ in four places. D–G are the controlled version.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proposal's Objective 1, measured. It supports the premise that masked text has many valid answers, and that span masking selects systematically harder targets.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asked about the HPC request: we have not needed it yet, and we can quantify what a full run costs.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direct: at 50 updates the trained encoders score below an untrained encoder. That is why the next slide exists, and it is why we are asking for a larger budget rather than more variants.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Report per seed, not an average, and note that the runs are token-matched but the predictor and teacher overhead differ, so compute is not identical.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collapse at this budget. Note that healthy geometry is necessary but not sufficient: the probe is the transfer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trained students still sit near or below the random reference, say so plainly and explain that the probe task is easy with few labels, so it cannot separate variants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are loss-level observations only. With one seed and no probe yet they are hypotheses, not conclusions.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honest summary. It is also a good position: the machinery is done and the next step is compute.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Volunteering limitations earns credibility and pre-empts the obvious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Give a concrete order: budget first, then seeds, then ablations with probe, then optional components.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the infrastructure claim: anyone can rerun this on a free T4.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2100000"/>
          </a:xfrm>
          <a:prstGeom prst="rect">
            <a:avLst/>
          </a:prstGeom>
          <a:solidFill>
            <a:srgbClr val="12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0000" y="620000"/>
            <a:ext cx="10972800" cy="10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A Lightweight Self-Supervised Framework for Text</a:t>
            </a:r>
            <a:br/>
            <a:r>
              <a:t>Representation Learning Using Masked Latent Prediction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0000" y="2300000"/>
            <a:ext cx="10972800" cy="1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1F7A8C"/>
                </a:solidFill>
              </a:defRPr>
            </a:pPr>
            <a:r>
              <a:t>Mid-Project Review  ·  29 October 2026</a:t>
            </a:r>
          </a:p>
          <a:p>
            <a:pPr>
              <a:defRPr sz="1300">
                <a:solidFill>
                  <a:srgbClr val="555F6B"/>
                </a:solidFill>
              </a:defRPr>
            </a:pPr>
            <a:r>
              <a:t>R Daksha Subramanya · Sudeep S S Suvarna · Akash U S  (batch PB93)</a:t>
            </a:r>
          </a:p>
          <a:p>
            <a:pPr>
              <a:defRPr sz="1300">
                <a:solidFill>
                  <a:srgbClr val="555F6B"/>
                </a:solidFill>
              </a:defRPr>
            </a:pPr>
            <a:r>
              <a:t>Guide: Dr. Prabadevi B, Assoc. Professor, Dept. of CSE, MSRUAS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0972800" cy="7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2263D"/>
                </a:solidFill>
              </a:defRPr>
            </a:pPr>
            <a:r>
              <a:t>Where we are at mid-project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50000"/>
            <a:ext cx="10972800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1F7A8C"/>
                </a:solidFill>
              </a:defRPr>
            </a:pPr>
            <a:r>
              <a:t>Pre-project: plan and literature. Now: a running system with measured pilots.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880000"/>
            <a:ext cx="10972800" cy="18000"/>
          </a:xfrm>
          <a:prstGeom prst="rect">
            <a:avLst/>
          </a:prstGeom>
          <a:solidFill>
            <a:srgbClr val="1F7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00000"/>
            <a:ext cx="10972800" cy="4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2263D"/>
                </a:solidFill>
              </a:defRPr>
            </a:pPr>
            <a:r>
              <a:t>• Built: shared 4-layer encoder, MLM control, two masked-latent recipes, EMA teacher, resumable checkpoints</a:t>
            </a:r>
          </a:p>
          <a:p>
            <a:pPr>
              <a:spcAft>
                <a:spcPts val="800"/>
              </a:spcAft>
              <a:defRPr sz="1700">
                <a:solidFill>
                  <a:srgbClr val="12263D"/>
                </a:solidFill>
              </a:defRPr>
            </a:pPr>
            <a:r>
              <a:t>• Built: data pipeline, masking policies, representation geometry, frozen linear probe, ambiguity analysis</a:t>
            </a:r>
          </a:p>
          <a:p>
            <a:pPr>
              <a:spcAft>
                <a:spcPts val="800"/>
              </a:spcAft>
              <a:defRPr sz="1700">
                <a:solidFill>
                  <a:srgbClr val="12263D"/>
                </a:solidFill>
              </a:defRPr>
            </a:pPr>
            <a:r>
              <a:t>• Validated: 55 automated tests, lint clean, checkpoint resume with exact state parity</a:t>
            </a:r>
          </a:p>
          <a:p>
            <a:pPr>
              <a:spcAft>
                <a:spcPts val="800"/>
              </a:spcAft>
              <a:defRPr sz="1700">
                <a:solidFill>
                  <a:srgbClr val="12263D"/>
                </a:solidFill>
              </a:defRPr>
            </a:pPr>
            <a:r>
              <a:t>• Run: pilots on a free Kaggle T4 (no local GPU, no paid compute)</a:t>
            </a:r>
          </a:p>
          <a:p>
            <a:pPr>
              <a:spcAft>
                <a:spcPts val="800"/>
              </a:spcAft>
              <a:defRPr sz="1700">
                <a:solidFill>
                  <a:srgbClr val="12263D"/>
                </a:solidFill>
              </a:defRPr>
            </a:pPr>
            <a:r>
              <a:t>• Not yet: the full training budget. Every result so far is a bounded pilot, and we say so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0972800" cy="7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2263D"/>
                </a:solidFill>
              </a:defRPr>
            </a:pPr>
            <a:r>
              <a:t>Research question (unchanged)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50000"/>
            <a:ext cx="10972800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1F7A8C"/>
                </a:solidFill>
              </a:defRPr>
            </a:pPr>
            <a:r>
              <a:t>One shared small encoder, one change at a time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880000"/>
            <a:ext cx="10972800" cy="18000"/>
          </a:xfrm>
          <a:prstGeom prst="rect">
            <a:avLst/>
          </a:prstGeom>
          <a:solidFill>
            <a:srgbClr val="1F7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00000"/>
            <a:ext cx="10972800" cy="4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2263D"/>
                </a:solidFill>
              </a:defRPr>
            </a:pPr>
            <a:r>
              <a:t>• Masked latent prediction works for text in one recipe and collapses in another</a:t>
            </a:r>
          </a:p>
          <a:p>
            <a:pPr>
              <a:spcAft>
                <a:spcPts val="800"/>
              </a:spcAft>
              <a:defRPr sz="1700">
                <a:solidFill>
                  <a:srgbClr val="12263D"/>
                </a:solidFill>
              </a:defRPr>
            </a:pPr>
            <a:r>
              <a:t>• Those recipes differ in target, masking, predictor and loss simultaneously, so nobody knows which choice matters</a:t>
            </a:r>
          </a:p>
          <a:p>
            <a:pPr>
              <a:spcAft>
                <a:spcPts val="800"/>
              </a:spcAft>
              <a:defRPr sz="1700">
                <a:solidFill>
                  <a:srgbClr val="12263D"/>
                </a:solidFill>
              </a:defRPr>
            </a:pPr>
            <a:r>
              <a:t>• Question: which of those five design choices decides collapse versus transferable representations, at academic compute scale?</a:t>
            </a:r>
          </a:p>
          <a:p>
            <a:pPr>
              <a:spcAft>
                <a:spcPts val="800"/>
              </a:spcAft>
              <a:defRPr sz="1700">
                <a:solidFill>
                  <a:srgbClr val="12263D"/>
                </a:solidFill>
              </a:defRPr>
            </a:pPr>
            <a:r>
              <a:t>• Hypothesis: normalised multi-layer targets matter most; training loss alone will not predict transfer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0972800" cy="7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2263D"/>
                </a:solidFill>
              </a:defRPr>
            </a:pPr>
            <a:r>
              <a:t>Method: what is actually implemented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80000"/>
            <a:ext cx="10972800" cy="18000"/>
          </a:xfrm>
          <a:prstGeom prst="rect">
            <a:avLst/>
          </a:prstGeom>
          <a:solidFill>
            <a:srgbClr val="1F7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00000"/>
            <a:ext cx="10972800" cy="4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2263D"/>
                </a:solidFill>
              </a:defRPr>
            </a:pPr>
            <a:r>
              <a:t>• Student: random-init 4-layer encoder, width 256, 4 heads, length 128, learned positions</a:t>
            </a:r>
          </a:p>
          <a:p>
            <a:pPr>
              <a:spcAft>
                <a:spcPts val="800"/>
              </a:spcAft>
              <a:defRPr sz="1700">
                <a:solidFill>
                  <a:srgbClr val="12263D"/>
                </a:solidFill>
              </a:defRPr>
            </a:pPr>
            <a:r>
              <a:t>• Teacher: frozen EMA copy, sees uncorrupted text, no gradients, targets detached</a:t>
            </a:r>
          </a:p>
          <a:p>
            <a:pPr>
              <a:spcAft>
                <a:spcPts val="800"/>
              </a:spcAft>
              <a:defRPr sz="1700">
                <a:solidFill>
                  <a:srgbClr val="12263D"/>
                </a:solidFill>
              </a:defRPr>
            </a:pPr>
            <a:r>
              <a:t>• Targets: final layer (recipe A) or mean of normalised top-2 layers (recipe B)</a:t>
            </a:r>
          </a:p>
          <a:p>
            <a:pPr>
              <a:spcAft>
                <a:spcPts val="800"/>
              </a:spcAft>
              <a:defRPr sz="1700">
                <a:solidFill>
                  <a:srgbClr val="12263D"/>
                </a:solidFill>
              </a:defRPr>
            </a:pPr>
            <a:r>
              <a:t>• Predictors: 2-layer attention predictor (A) or linear projection (B)</a:t>
            </a:r>
          </a:p>
          <a:p>
            <a:pPr>
              <a:spcAft>
                <a:spcPts val="800"/>
              </a:spcAft>
              <a:defRPr sz="1700">
                <a:solidFill>
                  <a:srgbClr val="12263D"/>
                </a:solidFill>
              </a:defRPr>
            </a:pPr>
            <a:r>
              <a:t>• Losses: MSE (A) or Smooth L1 (B); MLM control uses vocabulary cross-entropy</a:t>
            </a:r>
          </a:p>
          <a:p>
            <a:pPr>
              <a:spcAft>
                <a:spcPts val="800"/>
              </a:spcAft>
              <a:defRPr sz="1700">
                <a:solidFill>
                  <a:srgbClr val="12263D"/>
                </a:solidFill>
              </a:defRPr>
            </a:pPr>
            <a:r>
              <a:t>• Everything selected by config file: C / A / B and ablations D–G share one runner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0972800" cy="7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2263D"/>
                </a:solidFill>
              </a:defRPr>
            </a:pPr>
            <a:r>
              <a:t>Conditions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50000"/>
            <a:ext cx="10972800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1F7A8C"/>
                </a:solidFill>
              </a:defRPr>
            </a:pPr>
            <a:r>
              <a:t>A vs B changes four things; D–G change exactly one each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880000"/>
            <a:ext cx="10972800" cy="18000"/>
          </a:xfrm>
          <a:prstGeom prst="rect">
            <a:avLst/>
          </a:prstGeom>
          <a:solidFill>
            <a:srgbClr val="1F7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00000"/>
          <a:ext cx="10972800" cy="32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194560"/>
                <a:gridCol w="2194560"/>
                <a:gridCol w="2194560"/>
                <a:gridCol w="2194560"/>
              </a:tblGrid>
              <a:tr h="4000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ID</a:t>
                      </a:r>
                    </a:p>
                  </a:txBody>
                  <a:tcPr>
                    <a:solidFill>
                      <a:srgbClr val="1226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226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Masking</a:t>
                      </a:r>
                    </a:p>
                  </a:txBody>
                  <a:tcPr>
                    <a:solidFill>
                      <a:srgbClr val="1226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Predictor</a:t>
                      </a:r>
                    </a:p>
                  </a:txBody>
                  <a:tcPr>
                    <a:solidFill>
                      <a:srgbClr val="1226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Loss</a:t>
                      </a:r>
                    </a:p>
                  </a:txBody>
                  <a:tcPr>
                    <a:solidFill>
                      <a:srgbClr val="12263D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C</a:t>
                      </a:r>
                    </a:p>
                  </a:txBody>
                  <a:tcPr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token identity</a:t>
                      </a:r>
                    </a:p>
                  </a:txBody>
                  <a:tcPr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independent</a:t>
                      </a:r>
                    </a:p>
                  </a:txBody>
                  <a:tcPr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vocab classifier</a:t>
                      </a:r>
                    </a:p>
                  </a:txBody>
                  <a:tcPr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cross-entropy</a:t>
                      </a:r>
                    </a:p>
                  </a:txBody>
                  <a:tcPr>
                    <a:solidFill>
                      <a:srgbClr val="ECF1F5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final layer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short spans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attention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MSE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B</a:t>
                      </a:r>
                    </a:p>
                  </a:txBody>
                  <a:tcPr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normalised top-2</a:t>
                      </a:r>
                    </a:p>
                  </a:txBody>
                  <a:tcPr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independent</a:t>
                      </a:r>
                    </a:p>
                  </a:txBody>
                  <a:tcPr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linear</a:t>
                      </a:r>
                    </a:p>
                  </a:txBody>
                  <a:tcPr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Smooth L1</a:t>
                      </a:r>
                    </a:p>
                  </a:txBody>
                  <a:tcPr>
                    <a:solidFill>
                      <a:srgbClr val="ECF1F5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normalised top-2 (B only)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short spans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attention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MSE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E</a:t>
                      </a:r>
                    </a:p>
                  </a:txBody>
                  <a:tcPr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final layer</a:t>
                      </a:r>
                    </a:p>
                  </a:txBody>
                  <a:tcPr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independent (B only)</a:t>
                      </a:r>
                    </a:p>
                  </a:txBody>
                  <a:tcPr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attention</a:t>
                      </a:r>
                    </a:p>
                  </a:txBody>
                  <a:tcPr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MSE</a:t>
                      </a:r>
                    </a:p>
                  </a:txBody>
                  <a:tcPr>
                    <a:solidFill>
                      <a:srgbClr val="ECF1F5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final layer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short spans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linear (B only)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MSE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G</a:t>
                      </a:r>
                    </a:p>
                  </a:txBody>
                  <a:tcPr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final layer</a:t>
                      </a:r>
                    </a:p>
                  </a:txBody>
                  <a:tcPr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short spans</a:t>
                      </a:r>
                    </a:p>
                  </a:txBody>
                  <a:tcPr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attention</a:t>
                      </a:r>
                    </a:p>
                  </a:txBody>
                  <a:tcPr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Smooth L1 (B only)</a:t>
                      </a:r>
                    </a:p>
                  </a:txBody>
                  <a:tcPr>
                    <a:solidFill>
                      <a:srgbClr val="ECF1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0972800" cy="7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2263D"/>
                </a:solidFill>
              </a:defRPr>
            </a:pPr>
            <a:r>
              <a:t>Objective 1: is masked text actually ambiguous?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50000"/>
            <a:ext cx="10972800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1F7A8C"/>
                </a:solidFill>
              </a:defRPr>
            </a:pPr>
            <a:r>
              <a:t>Pretrained BERT used only as an estimator, never as our encoder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880000"/>
            <a:ext cx="10972800" cy="18000"/>
          </a:xfrm>
          <a:prstGeom prst="rect">
            <a:avLst/>
          </a:prstGeom>
          <a:solidFill>
            <a:srgbClr val="1F7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00000"/>
          <a:ext cx="10972800" cy="36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000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Measurement</a:t>
                      </a:r>
                    </a:p>
                  </a:txBody>
                  <a:tcPr>
                    <a:solidFill>
                      <a:srgbClr val="1226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Value</a:t>
                      </a:r>
                    </a:p>
                  </a:txBody>
                  <a:tcPr>
                    <a:solidFill>
                      <a:srgbClr val="12263D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Eligible positions scored</a:t>
                      </a:r>
                    </a:p>
                  </a:txBody>
                  <a:tcPr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26,840</a:t>
                      </a:r>
                    </a:p>
                  </a:txBody>
                  <a:tcPr>
                    <a:solidFill>
                      <a:srgbClr val="ECF1F5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Records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Mean predictive entropy</a:t>
                      </a:r>
                    </a:p>
                  </a:txBody>
                  <a:tcPr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1.277 nats</a:t>
                      </a:r>
                    </a:p>
                  </a:txBody>
                  <a:tcPr>
                    <a:solidFill>
                      <a:srgbClr val="ECF1F5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Median predictive entropy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0.602 nats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Positions above log 5 (≈5 plausible tokens)</a:t>
                      </a:r>
                    </a:p>
                  </a:txBody>
                  <a:tcPr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30.2 %</a:t>
                      </a:r>
                    </a:p>
                  </a:txBody>
                  <a:tcPr>
                    <a:solidFill>
                      <a:srgbClr val="ECF1F5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Independent-mask mean entropy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1.612 nats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Span-mask mean entropy</a:t>
                      </a:r>
                    </a:p>
                  </a:txBody>
                  <a:tcPr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1.633 nats</a:t>
                      </a:r>
                    </a:p>
                  </a:txBody>
                  <a:tcPr>
                    <a:solidFill>
                      <a:srgbClr val="ECF1F5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Records where spans are more ambiguous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191 / 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0972800" cy="7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2263D"/>
                </a:solidFill>
              </a:defRPr>
            </a:pPr>
            <a:r>
              <a:t>Compute: free GPU only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50000"/>
            <a:ext cx="10972800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1F7A8C"/>
                </a:solidFill>
              </a:defRPr>
            </a:pPr>
            <a:r>
              <a:t>Colab free tier refused to allocate a backend from our location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880000"/>
            <a:ext cx="10972800" cy="18000"/>
          </a:xfrm>
          <a:prstGeom prst="rect">
            <a:avLst/>
          </a:prstGeom>
          <a:solidFill>
            <a:srgbClr val="1F7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00000"/>
            <a:ext cx="10972800" cy="4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2263D"/>
                </a:solidFill>
              </a:defRPr>
            </a:pPr>
            <a:r>
              <a:t>• Runtime used: Kaggle free tier, Tesla T4 15 GB, PyTorch 2.11.0+cu128, CUDA verified inside the run</a:t>
            </a:r>
          </a:p>
          <a:p>
            <a:pPr>
              <a:spcAft>
                <a:spcPts val="800"/>
              </a:spcAft>
              <a:defRPr sz="1700">
                <a:solidFill>
                  <a:srgbClr val="12263D"/>
                </a:solidFill>
              </a:defRPr>
            </a:pPr>
            <a:r>
              <a:t>• Local machines: CPU only for tests and analysis — no local CUDA installs, no paid compute</a:t>
            </a:r>
          </a:p>
          <a:p>
            <a:pPr>
              <a:spcAft>
                <a:spcPts val="800"/>
              </a:spcAft>
              <a:defRPr sz="1700">
                <a:solidFill>
                  <a:srgbClr val="12263D"/>
                </a:solidFill>
              </a:defRPr>
            </a:pPr>
            <a:r>
              <a:t>• Measured throughput from the pilot: ~9.5k tokens/s for this encoder size</a:t>
            </a:r>
          </a:p>
          <a:p>
            <a:pPr>
              <a:spcAft>
                <a:spcPts val="800"/>
              </a:spcAft>
              <a:defRPr sz="1700">
                <a:solidFill>
                  <a:srgbClr val="12263D"/>
                </a:solidFill>
              </a:defRPr>
            </a:pPr>
            <a:r>
              <a:t>• Entitlement: 30 GPU-hours per week on Kaggle; we have used well under two hours</a:t>
            </a:r>
          </a:p>
          <a:p>
            <a:pPr>
              <a:spcAft>
                <a:spcPts val="800"/>
              </a:spcAft>
              <a:defRPr sz="1700">
                <a:solidFill>
                  <a:srgbClr val="12263D"/>
                </a:solidFill>
              </a:defRPr>
            </a:pPr>
            <a:r>
              <a:t>• Every run records commit, config, artifact hashes, token counts and wall-clock time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0972800" cy="7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2263D"/>
                </a:solidFill>
              </a:defRPr>
            </a:pPr>
            <a:r>
              <a:t>First pilot: the system runs, the budget does not yet teach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50000"/>
            <a:ext cx="10972800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1F7A8C"/>
                </a:solidFill>
              </a:defRPr>
            </a:pPr>
            <a:r>
              <a:t>50 updates · 22,833 tokens · 0.46 % of the proposed budget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880000"/>
            <a:ext cx="10972800" cy="18000"/>
          </a:xfrm>
          <a:prstGeom prst="rect">
            <a:avLst/>
          </a:prstGeom>
          <a:solidFill>
            <a:srgbClr val="1F7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00000"/>
          <a:ext cx="10972800" cy="16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4000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Condition</a:t>
                      </a:r>
                    </a:p>
                  </a:txBody>
                  <a:tcPr>
                    <a:solidFill>
                      <a:srgbClr val="1226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Tokens</a:t>
                      </a:r>
                    </a:p>
                  </a:txBody>
                  <a:tcPr>
                    <a:solidFill>
                      <a:srgbClr val="1226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Final loss</a:t>
                      </a:r>
                    </a:p>
                  </a:txBody>
                  <a:tcPr>
                    <a:solidFill>
                      <a:srgbClr val="1226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Train time</a:t>
                      </a:r>
                    </a:p>
                  </a:txBody>
                  <a:tcPr>
                    <a:solidFill>
                      <a:srgbClr val="12263D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C</a:t>
                      </a:r>
                    </a:p>
                  </a:txBody>
                  <a:tcPr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22833</a:t>
                      </a:r>
                    </a:p>
                  </a:txBody>
                  <a:tcPr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9.1832</a:t>
                      </a:r>
                    </a:p>
                  </a:txBody>
                  <a:tcPr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2.73 s</a:t>
                      </a:r>
                    </a:p>
                  </a:txBody>
                  <a:tcPr>
                    <a:solidFill>
                      <a:srgbClr val="ECF1F5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22833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1.3318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2.66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B</a:t>
                      </a:r>
                    </a:p>
                  </a:txBody>
                  <a:tcPr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22833</a:t>
                      </a:r>
                    </a:p>
                  </a:txBody>
                  <a:tcPr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0.4343</a:t>
                      </a:r>
                    </a:p>
                  </a:txBody>
                  <a:tcPr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2.23 s</a:t>
                      </a:r>
                    </a:p>
                  </a:txBody>
                  <a:tcPr>
                    <a:solidFill>
                      <a:srgbClr val="ECF1F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3300000"/>
          <a:ext cx="10972800" cy="2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000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AG News probe</a:t>
                      </a:r>
                    </a:p>
                  </a:txBody>
                  <a:tcPr>
                    <a:solidFill>
                      <a:srgbClr val="1226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1226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Macro-F1</a:t>
                      </a:r>
                    </a:p>
                  </a:txBody>
                  <a:tcPr>
                    <a:solidFill>
                      <a:srgbClr val="12263D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mlm</a:t>
                      </a:r>
                    </a:p>
                  </a:txBody>
                  <a:tcPr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0.603</a:t>
                      </a:r>
                    </a:p>
                  </a:txBody>
                  <a:tcPr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0.599</a:t>
                      </a:r>
                    </a:p>
                  </a:txBody>
                  <a:tcPr>
                    <a:solidFill>
                      <a:srgbClr val="ECF1F5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latent-a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0.598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0.596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latent-b</a:t>
                      </a:r>
                    </a:p>
                  </a:txBody>
                  <a:tcPr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0.602</a:t>
                      </a:r>
                    </a:p>
                  </a:txBody>
                  <a:tcPr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0.600</a:t>
                      </a:r>
                    </a:p>
                  </a:txBody>
                  <a:tcPr>
                    <a:solidFill>
                      <a:srgbClr val="ECF1F5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random-init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0.632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0.628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0972800" cy="7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2263D"/>
                </a:solidFill>
              </a:defRPr>
            </a:pPr>
            <a:r>
              <a:t>Scaled pilot: 2 seeds, ~0.7 M tokens each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50000"/>
            <a:ext cx="10972800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1F7A8C"/>
                </a:solidFill>
              </a:defRPr>
            </a:pPr>
            <a:r>
              <a:t>Still a pilot, but now the encoder is actually trained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880000"/>
            <a:ext cx="10972800" cy="18000"/>
          </a:xfrm>
          <a:prstGeom prst="rect">
            <a:avLst/>
          </a:prstGeom>
          <a:solidFill>
            <a:srgbClr val="1F7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00000"/>
          <a:ext cx="10972800" cy="2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  <a:gridCol w="1828800"/>
                <a:gridCol w="1828800"/>
                <a:gridCol w="1828800"/>
              </a:tblGrid>
              <a:tr h="4000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Run</a:t>
                      </a:r>
                    </a:p>
                  </a:txBody>
                  <a:tcPr>
                    <a:solidFill>
                      <a:srgbClr val="1226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Tokens</a:t>
                      </a:r>
                    </a:p>
                  </a:txBody>
                  <a:tcPr>
                    <a:solidFill>
                      <a:srgbClr val="1226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Targets</a:t>
                      </a:r>
                    </a:p>
                  </a:txBody>
                  <a:tcPr>
                    <a:solidFill>
                      <a:srgbClr val="1226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First loss</a:t>
                      </a:r>
                    </a:p>
                  </a:txBody>
                  <a:tcPr>
                    <a:solidFill>
                      <a:srgbClr val="1226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Last loss</a:t>
                      </a:r>
                    </a:p>
                  </a:txBody>
                  <a:tcPr>
                    <a:solidFill>
                      <a:srgbClr val="1226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Time</a:t>
                      </a:r>
                    </a:p>
                  </a:txBody>
                  <a:tcPr>
                    <a:solidFill>
                      <a:srgbClr val="12263D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s17-mlm (seed 17)</a:t>
                      </a:r>
                    </a:p>
                  </a:txBody>
                  <a:tcPr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700,482</a:t>
                      </a:r>
                    </a:p>
                  </a:txBody>
                  <a:tcPr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102,721</a:t>
                      </a:r>
                    </a:p>
                  </a:txBody>
                  <a:tcPr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10.5259</a:t>
                      </a:r>
                    </a:p>
                  </a:txBody>
                  <a:tcPr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7.7839</a:t>
                      </a:r>
                    </a:p>
                  </a:txBody>
                  <a:tcPr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47.2 s</a:t>
                      </a:r>
                    </a:p>
                  </a:txBody>
                  <a:tcPr>
                    <a:solidFill>
                      <a:srgbClr val="ECF1F5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s43-mlm (seed 43)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700,482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102,721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10.4439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7.9446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49.4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s17-latent_a (seed 17)</a:t>
                      </a:r>
                    </a:p>
                  </a:txBody>
                  <a:tcPr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700,482</a:t>
                      </a:r>
                    </a:p>
                  </a:txBody>
                  <a:tcPr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102,721</a:t>
                      </a:r>
                    </a:p>
                  </a:txBody>
                  <a:tcPr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2.0140</a:t>
                      </a:r>
                    </a:p>
                  </a:txBody>
                  <a:tcPr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0.5052</a:t>
                      </a:r>
                    </a:p>
                  </a:txBody>
                  <a:tcPr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44.6 s</a:t>
                      </a:r>
                    </a:p>
                  </a:txBody>
                  <a:tcPr>
                    <a:solidFill>
                      <a:srgbClr val="ECF1F5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s43-latent_a (seed 43)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700,482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102,721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2.0181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0.5187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45.0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s17-latent_b (seed 17)</a:t>
                      </a:r>
                    </a:p>
                  </a:txBody>
                  <a:tcPr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700,482</a:t>
                      </a:r>
                    </a:p>
                  </a:txBody>
                  <a:tcPr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102,721</a:t>
                      </a:r>
                    </a:p>
                  </a:txBody>
                  <a:tcPr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0.5635</a:t>
                      </a:r>
                    </a:p>
                  </a:txBody>
                  <a:tcPr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0.1500</a:t>
                      </a:r>
                    </a:p>
                  </a:txBody>
                  <a:tcPr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36.0 s</a:t>
                      </a:r>
                    </a:p>
                  </a:txBody>
                  <a:tcPr>
                    <a:solidFill>
                      <a:srgbClr val="ECF1F5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s43-latent_b (seed 43)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700,482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102,721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0.5758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0.1544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35.2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0972800" cy="7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2263D"/>
                </a:solidFill>
              </a:defRPr>
            </a:pPr>
            <a:r>
              <a:t>Representation geometry: does anything collapse?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50000"/>
            <a:ext cx="10972800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1F7A8C"/>
                </a:solidFill>
              </a:defRPr>
            </a:pPr>
            <a:r>
              <a:t>Frozen student, uncorrupted text, held-out split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880000"/>
            <a:ext cx="10972800" cy="18000"/>
          </a:xfrm>
          <a:prstGeom prst="rect">
            <a:avLst/>
          </a:prstGeom>
          <a:solidFill>
            <a:srgbClr val="1F7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00000"/>
          <a:ext cx="10972800" cy="2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4000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Student</a:t>
                      </a:r>
                    </a:p>
                  </a:txBody>
                  <a:tcPr>
                    <a:solidFill>
                      <a:srgbClr val="1226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Effective rank (singular)</a:t>
                      </a:r>
                    </a:p>
                  </a:txBody>
                  <a:tcPr>
                    <a:solidFill>
                      <a:srgbClr val="1226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Effective rank (covariance)</a:t>
                      </a:r>
                    </a:p>
                  </a:txBody>
                  <a:tcPr>
                    <a:solidFill>
                      <a:srgbClr val="1226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Status</a:t>
                      </a:r>
                    </a:p>
                  </a:txBody>
                  <a:tcPr>
                    <a:solidFill>
                      <a:srgbClr val="12263D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s17-latent_a</a:t>
                      </a:r>
                    </a:p>
                  </a:txBody>
                  <a:tcPr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76.4</a:t>
                      </a:r>
                    </a:p>
                  </a:txBody>
                  <a:tcPr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3.62</a:t>
                      </a:r>
                    </a:p>
                  </a:txBody>
                  <a:tcPr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healthy</a:t>
                      </a:r>
                    </a:p>
                  </a:txBody>
                  <a:tcPr>
                    <a:solidFill>
                      <a:srgbClr val="ECF1F5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s17-latent_b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67.6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2.87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healthy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s17-mlm</a:t>
                      </a:r>
                    </a:p>
                  </a:txBody>
                  <a:tcPr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10.2</a:t>
                      </a:r>
                    </a:p>
                  </a:txBody>
                  <a:tcPr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1.09</a:t>
                      </a:r>
                    </a:p>
                  </a:txBody>
                  <a:tcPr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healthy</a:t>
                      </a:r>
                    </a:p>
                  </a:txBody>
                  <a:tcPr>
                    <a:solidFill>
                      <a:srgbClr val="ECF1F5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s43-latent_a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80.8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5.15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healthy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s43-latent_b</a:t>
                      </a:r>
                    </a:p>
                  </a:txBody>
                  <a:tcPr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72.6</a:t>
                      </a:r>
                    </a:p>
                  </a:txBody>
                  <a:tcPr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3.57</a:t>
                      </a:r>
                    </a:p>
                  </a:txBody>
                  <a:tcPr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healthy</a:t>
                      </a:r>
                    </a:p>
                  </a:txBody>
                  <a:tcPr>
                    <a:solidFill>
                      <a:srgbClr val="ECF1F5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s43-mlm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17.0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1.47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healthy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0972800" cy="7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2263D"/>
                </a:solidFill>
              </a:defRPr>
            </a:pPr>
            <a:r>
              <a:t>Frozen linear probe: has transfer improved?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50000"/>
            <a:ext cx="10972800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1F7A8C"/>
                </a:solidFill>
              </a:defRPr>
            </a:pPr>
            <a:r>
              <a:t>AG News · scaler and classifier fit on probe-train only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880000"/>
            <a:ext cx="10972800" cy="18000"/>
          </a:xfrm>
          <a:prstGeom prst="rect">
            <a:avLst/>
          </a:prstGeom>
          <a:solidFill>
            <a:srgbClr val="1F7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00000"/>
          <a:ext cx="10972800" cy="36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000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Student</a:t>
                      </a:r>
                    </a:p>
                  </a:txBody>
                  <a:tcPr>
                    <a:solidFill>
                      <a:srgbClr val="1226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1226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Macro-F1</a:t>
                      </a:r>
                    </a:p>
                  </a:txBody>
                  <a:tcPr>
                    <a:solidFill>
                      <a:srgbClr val="12263D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s17-mlm</a:t>
                      </a:r>
                    </a:p>
                  </a:txBody>
                  <a:tcPr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0.575</a:t>
                      </a:r>
                    </a:p>
                  </a:txBody>
                  <a:tcPr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0.570</a:t>
                      </a:r>
                    </a:p>
                  </a:txBody>
                  <a:tcPr>
                    <a:solidFill>
                      <a:srgbClr val="ECF1F5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s17-latent_a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0.589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0.586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s17-latent_b</a:t>
                      </a:r>
                    </a:p>
                  </a:txBody>
                  <a:tcPr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0.593</a:t>
                      </a:r>
                    </a:p>
                  </a:txBody>
                  <a:tcPr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0.590</a:t>
                      </a:r>
                    </a:p>
                  </a:txBody>
                  <a:tcPr>
                    <a:solidFill>
                      <a:srgbClr val="ECF1F5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s43-mlm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0.577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0.568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s43-latent_a</a:t>
                      </a:r>
                    </a:p>
                  </a:txBody>
                  <a:tcPr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0.588</a:t>
                      </a:r>
                    </a:p>
                  </a:txBody>
                  <a:tcPr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0.582</a:t>
                      </a:r>
                    </a:p>
                  </a:txBody>
                  <a:tcPr>
                    <a:solidFill>
                      <a:srgbClr val="ECF1F5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s43-latent_b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0.585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0.579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random-init</a:t>
                      </a:r>
                    </a:p>
                  </a:txBody>
                  <a:tcPr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0.632</a:t>
                      </a:r>
                    </a:p>
                  </a:txBody>
                  <a:tcPr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0.628</a:t>
                      </a:r>
                    </a:p>
                  </a:txBody>
                  <a:tcPr>
                    <a:solidFill>
                      <a:srgbClr val="ECF1F5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majority baseline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0.274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0972800" cy="7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2263D"/>
                </a:solidFill>
              </a:defRPr>
            </a:pPr>
            <a:r>
              <a:t>Component ablations D–G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50000"/>
            <a:ext cx="10972800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1F7A8C"/>
                </a:solidFill>
              </a:defRPr>
            </a:pPr>
            <a:r>
              <a:t>One change at a time relative to 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880000"/>
            <a:ext cx="10972800" cy="18000"/>
          </a:xfrm>
          <a:prstGeom prst="rect">
            <a:avLst/>
          </a:prstGeom>
          <a:solidFill>
            <a:srgbClr val="1F7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00000"/>
          <a:ext cx="10972800" cy="2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194560"/>
                <a:gridCol w="2194560"/>
                <a:gridCol w="2194560"/>
                <a:gridCol w="2194560"/>
              </a:tblGrid>
              <a:tr h="4000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Run</a:t>
                      </a:r>
                    </a:p>
                  </a:txBody>
                  <a:tcPr>
                    <a:solidFill>
                      <a:srgbClr val="1226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ID</a:t>
                      </a:r>
                    </a:p>
                  </a:txBody>
                  <a:tcPr>
                    <a:solidFill>
                      <a:srgbClr val="1226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Tokens</a:t>
                      </a:r>
                    </a:p>
                  </a:txBody>
                  <a:tcPr>
                    <a:solidFill>
                      <a:srgbClr val="1226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Final loss</a:t>
                      </a:r>
                    </a:p>
                  </a:txBody>
                  <a:tcPr>
                    <a:solidFill>
                      <a:srgbClr val="1226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Time</a:t>
                      </a:r>
                    </a:p>
                  </a:txBody>
                  <a:tcPr>
                    <a:solidFill>
                      <a:srgbClr val="12263D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s17-ablation_d</a:t>
                      </a:r>
                    </a:p>
                  </a:txBody>
                  <a:tcPr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D</a:t>
                      </a:r>
                    </a:p>
                  </a:txBody>
                  <a:tcPr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700,482</a:t>
                      </a:r>
                    </a:p>
                  </a:txBody>
                  <a:tcPr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0.3584</a:t>
                      </a:r>
                    </a:p>
                  </a:txBody>
                  <a:tcPr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44.9 s</a:t>
                      </a:r>
                    </a:p>
                  </a:txBody>
                  <a:tcPr>
                    <a:solidFill>
                      <a:srgbClr val="ECF1F5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s17-ablation_e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700,482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0.5132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45.3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s17-ablation_f</a:t>
                      </a:r>
                    </a:p>
                  </a:txBody>
                  <a:tcPr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F</a:t>
                      </a:r>
                    </a:p>
                  </a:txBody>
                  <a:tcPr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700,482</a:t>
                      </a:r>
                    </a:p>
                  </a:txBody>
                  <a:tcPr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0.9015</a:t>
                      </a:r>
                    </a:p>
                  </a:txBody>
                  <a:tcPr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35.3 s</a:t>
                      </a:r>
                    </a:p>
                  </a:txBody>
                  <a:tcPr>
                    <a:solidFill>
                      <a:srgbClr val="ECF1F5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s17-ablation_g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700,482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0.2395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44.8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0972800" cy="7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2263D"/>
                </a:solidFill>
              </a:defRPr>
            </a:pPr>
            <a:r>
              <a:t>What this milestone actually establishes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80000"/>
            <a:ext cx="10972800" cy="18000"/>
          </a:xfrm>
          <a:prstGeom prst="rect">
            <a:avLst/>
          </a:prstGeom>
          <a:solidFill>
            <a:srgbClr val="1F7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00000"/>
            <a:ext cx="10972800" cy="4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2263D"/>
                </a:solidFill>
              </a:defRPr>
            </a:pPr>
            <a:r>
              <a:t>• The comparison is now controllable: the same encoder, data and runner serve C, A, B and D–G</a:t>
            </a:r>
          </a:p>
          <a:p>
            <a:pPr>
              <a:spcAft>
                <a:spcPts val="800"/>
              </a:spcAft>
              <a:defRPr sz="1700">
                <a:solidFill>
                  <a:srgbClr val="12263D"/>
                </a:solidFill>
              </a:defRPr>
            </a:pPr>
            <a:r>
              <a:t>• Masked text really is ambiguous, and span masking selects harder targets than independent masking</a:t>
            </a:r>
          </a:p>
          <a:p>
            <a:pPr>
              <a:spcAft>
                <a:spcPts val="800"/>
              </a:spcAft>
              <a:defRPr sz="1700">
                <a:solidFill>
                  <a:srgbClr val="12263D"/>
                </a:solidFill>
              </a:defRPr>
            </a:pPr>
            <a:r>
              <a:t>• Short pilots are not evidence: at 50 updates, training did not beat random features</a:t>
            </a:r>
          </a:p>
          <a:p>
            <a:pPr>
              <a:spcAft>
                <a:spcPts val="800"/>
              </a:spcAft>
              <a:defRPr sz="1700">
                <a:solidFill>
                  <a:srgbClr val="12263D"/>
                </a:solidFill>
              </a:defRPr>
            </a:pPr>
            <a:r>
              <a:t>• Collapse did not occur at the budgets tested, so the failure mode is not reproduced yet</a:t>
            </a:r>
          </a:p>
          <a:p>
            <a:pPr>
              <a:spcAft>
                <a:spcPts val="800"/>
              </a:spcAft>
              <a:defRPr sz="1700">
                <a:solidFill>
                  <a:srgbClr val="12263D"/>
                </a:solidFill>
              </a:defRPr>
            </a:pPr>
            <a:r>
              <a:t>• Budget, not architecture, is the binding constraint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0972800" cy="7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2263D"/>
                </a:solidFill>
              </a:defRPr>
            </a:pPr>
            <a:r>
              <a:t>Limitations we will state ourselves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80000"/>
            <a:ext cx="10972800" cy="18000"/>
          </a:xfrm>
          <a:prstGeom prst="rect">
            <a:avLst/>
          </a:prstGeom>
          <a:solidFill>
            <a:srgbClr val="1F7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00000"/>
            <a:ext cx="10972800" cy="4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2263D"/>
                </a:solidFill>
              </a:defRPr>
            </a:pPr>
            <a:r>
              <a:t>• All runs are bounded pilots on WikiText-2, not the proposed WikiText-103 ~5M-token budget</a:t>
            </a:r>
          </a:p>
          <a:p>
            <a:pPr>
              <a:spcAft>
                <a:spcPts val="800"/>
              </a:spcAft>
              <a:defRPr sz="1700">
                <a:solidFill>
                  <a:srgbClr val="12263D"/>
                </a:solidFill>
              </a:defRPr>
            </a:pPr>
            <a:r>
              <a:t>• Two seeds is weak replication, not a confidence interval</a:t>
            </a:r>
          </a:p>
          <a:p>
            <a:pPr>
              <a:spcAft>
                <a:spcPts val="800"/>
              </a:spcAft>
              <a:defRPr sz="1700">
                <a:solidFill>
                  <a:srgbClr val="12263D"/>
                </a:solidFill>
              </a:defRPr>
            </a:pPr>
            <a:r>
              <a:t>• Losses are objective-specific and are never compared across objectives</a:t>
            </a:r>
          </a:p>
          <a:p>
            <a:pPr>
              <a:spcAft>
                <a:spcPts val="800"/>
              </a:spcAft>
              <a:defRPr sz="1700">
                <a:solidFill>
                  <a:srgbClr val="12263D"/>
                </a:solidFill>
              </a:defRPr>
            </a:pPr>
            <a:r>
              <a:t>• AG News is easy enough that random features score well with 4,000 labels</a:t>
            </a:r>
          </a:p>
          <a:p>
            <a:pPr>
              <a:spcAft>
                <a:spcPts val="800"/>
              </a:spcAft>
              <a:defRPr sz="1700">
                <a:solidFill>
                  <a:srgbClr val="12263D"/>
                </a:solidFill>
              </a:defRPr>
            </a:pPr>
            <a:r>
              <a:t>• No SIGReg variant yet, no token-level geometry, no SST-2</a:t>
            </a:r>
          </a:p>
          <a:p>
            <a:pPr>
              <a:spcAft>
                <a:spcPts val="800"/>
              </a:spcAft>
              <a:defRPr sz="1700">
                <a:solidFill>
                  <a:srgbClr val="12263D"/>
                </a:solidFill>
              </a:defRPr>
            </a:pPr>
            <a:r>
              <a:t>• A and B change four components at once; only D–G isolate anything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0972800" cy="7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2263D"/>
                </a:solidFill>
              </a:defRPr>
            </a:pPr>
            <a:r>
              <a:t>Remaining work to the final review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80000"/>
            <a:ext cx="10972800" cy="18000"/>
          </a:xfrm>
          <a:prstGeom prst="rect">
            <a:avLst/>
          </a:prstGeom>
          <a:solidFill>
            <a:srgbClr val="1F7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00000"/>
          <a:ext cx="10972800" cy="2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000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Work</a:t>
                      </a:r>
                    </a:p>
                  </a:txBody>
                  <a:tcPr>
                    <a:solidFill>
                      <a:srgbClr val="1226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Why it matters</a:t>
                      </a:r>
                    </a:p>
                  </a:txBody>
                  <a:tcPr>
                    <a:solidFill>
                      <a:srgbClr val="1226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Status</a:t>
                      </a:r>
                    </a:p>
                  </a:txBody>
                  <a:tcPr>
                    <a:solidFill>
                      <a:srgbClr val="12263D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Full-budget runs (≥5M tokens) on WikiText-103 subset</a:t>
                      </a:r>
                    </a:p>
                  </a:txBody>
                  <a:tcPr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Only then can design choices be compared</a:t>
                      </a:r>
                    </a:p>
                  </a:txBody>
                  <a:tcPr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Planned</a:t>
                      </a:r>
                    </a:p>
                  </a:txBody>
                  <a:tcPr>
                    <a:solidFill>
                      <a:srgbClr val="ECF1F5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Second seed for A/B/C and the strongest ablation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Separates effect from initialisation noise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Partially done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D–G with geometry and probes</a:t>
                      </a:r>
                    </a:p>
                  </a:txBody>
                  <a:tcPr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Turns loss observations into evidence</a:t>
                      </a:r>
                    </a:p>
                  </a:txBody>
                  <a:tcPr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Planned</a:t>
                      </a:r>
                    </a:p>
                  </a:txBody>
                  <a:tcPr>
                    <a:solidFill>
                      <a:srgbClr val="ECF1F5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SIGReg variant H (optional)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Tests the proposed anti-collapse remedy on text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Stretch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Token-level geometry and SST-2</a:t>
                      </a:r>
                    </a:p>
                  </a:txBody>
                  <a:tcPr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Second transfer check</a:t>
                      </a:r>
                    </a:p>
                  </a:txBody>
                  <a:tcPr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Stretch</a:t>
                      </a:r>
                    </a:p>
                  </a:txBody>
                  <a:tcPr>
                    <a:solidFill>
                      <a:srgbClr val="ECF1F5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Freeze protocol, write report and reproduce on a clean runtime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Reproducibility claim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2263D"/>
                          </a:solidFill>
                        </a:defRPr>
                      </a:pPr>
                      <a:r>
                        <a:t>Planned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0972800" cy="7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2263D"/>
                </a:solidFill>
              </a:defRPr>
            </a:pPr>
            <a:r>
              <a:t>SDG alignment and close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80000"/>
            <a:ext cx="10972800" cy="18000"/>
          </a:xfrm>
          <a:prstGeom prst="rect">
            <a:avLst/>
          </a:prstGeom>
          <a:solidFill>
            <a:srgbClr val="1F7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00000"/>
            <a:ext cx="10972800" cy="4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2263D"/>
                </a:solidFill>
              </a:defRPr>
            </a:pPr>
            <a:r>
              <a:t>• SDG 9, Target 9.5 — open, reproducible research on modest academic compute</a:t>
            </a:r>
          </a:p>
          <a:p>
            <a:pPr>
              <a:spcAft>
                <a:spcPts val="800"/>
              </a:spcAft>
              <a:defRPr sz="1700">
                <a:solidFill>
                  <a:srgbClr val="12263D"/>
                </a:solidFill>
              </a:defRPr>
            </a:pPr>
            <a:r>
              <a:t>• SDG 4, Target 4.4 — practical ML experimentation and reproducibility skills</a:t>
            </a:r>
          </a:p>
          <a:p>
            <a:pPr>
              <a:spcAft>
                <a:spcPts val="800"/>
              </a:spcAft>
              <a:defRPr sz="1700">
                <a:solidFill>
                  <a:srgbClr val="12263D"/>
                </a:solidFill>
              </a:defRPr>
            </a:pPr>
            <a:r>
              <a:t>• Both are indirect: this is a small academic study, not a national programme</a:t>
            </a:r>
          </a:p>
          <a:p>
            <a:pPr>
              <a:spcAft>
                <a:spcPts val="800"/>
              </a:spcAft>
              <a:defRPr sz="1700">
                <a:solidFill>
                  <a:srgbClr val="12263D"/>
                </a:solidFill>
              </a:defRPr>
            </a:pPr>
            <a:r>
              <a:t>• Repository, evidence and runbook are public; results are reproducible on a free GPU</a:t>
            </a:r>
          </a:p>
          <a:p>
            <a:pPr>
              <a:spcAft>
                <a:spcPts val="800"/>
              </a:spcAft>
              <a:defRPr sz="1700">
                <a:solidFill>
                  <a:srgbClr val="12263D"/>
                </a:solidFill>
              </a:defRPr>
            </a:pPr>
            <a:r>
              <a:t>• Questions welcome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